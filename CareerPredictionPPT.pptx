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x="18288000" cy="10287000"/>
  <p:notesSz cx="6858000" cy="9144000"/>
  <p:embeddedFontLst>
    <p:embeddedFont>
      <p:font typeface="Century Gothic Paneuropean Bold" charset="1" panose="020B0702020202020204"/>
      <p:regular r:id="rId18"/>
    </p:embeddedFont>
    <p:embeddedFont>
      <p:font typeface="Century Gothic Paneuropean" charset="1" panose="020B0502020202020204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svg" Type="http://schemas.openxmlformats.org/officeDocument/2006/relationships/image"/><Relationship Id="rId4" Target="../media/image9.png" Type="http://schemas.openxmlformats.org/officeDocument/2006/relationships/image"/><Relationship Id="rId5" Target="../media/image10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Relationship Id="rId3" Target="../media/image7.png" Type="http://schemas.openxmlformats.org/officeDocument/2006/relationships/image"/><Relationship Id="rId4" Target="../media/image8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Relationship Id="rId3" Target="../media/image7.png" Type="http://schemas.openxmlformats.org/officeDocument/2006/relationships/image"/><Relationship Id="rId4" Target="../media/image8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svg" Type="http://schemas.openxmlformats.org/officeDocument/2006/relationships/image"/><Relationship Id="rId4" Target="../media/image13.png" Type="http://schemas.openxmlformats.org/officeDocument/2006/relationships/image"/><Relationship Id="rId5" Target="../media/image14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5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718943" y="-989670"/>
            <a:ext cx="1080715" cy="2956684"/>
            <a:chOff x="0" y="0"/>
            <a:chExt cx="284633" cy="77871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84633" cy="778715"/>
            </a:xfrm>
            <a:custGeom>
              <a:avLst/>
              <a:gdLst/>
              <a:ahLst/>
              <a:cxnLst/>
              <a:rect r="r" b="b" t="t" l="l"/>
              <a:pathLst>
                <a:path h="778715" w="284633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-529352" y="9803843"/>
            <a:ext cx="19346704" cy="821917"/>
            <a:chOff x="0" y="0"/>
            <a:chExt cx="5095428" cy="21647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095428" cy="216472"/>
            </a:xfrm>
            <a:custGeom>
              <a:avLst/>
              <a:gdLst/>
              <a:ahLst/>
              <a:cxnLst/>
              <a:rect r="r" b="b" t="t" l="l"/>
              <a:pathLst>
                <a:path h="216472" w="5095428">
                  <a:moveTo>
                    <a:pt x="20409" y="0"/>
                  </a:moveTo>
                  <a:lnTo>
                    <a:pt x="5075020" y="0"/>
                  </a:lnTo>
                  <a:cubicBezTo>
                    <a:pt x="5086291" y="0"/>
                    <a:pt x="5095428" y="9137"/>
                    <a:pt x="5095428" y="20409"/>
                  </a:cubicBezTo>
                  <a:lnTo>
                    <a:pt x="5095428" y="196063"/>
                  </a:lnTo>
                  <a:cubicBezTo>
                    <a:pt x="5095428" y="201476"/>
                    <a:pt x="5093278" y="206667"/>
                    <a:pt x="5089451" y="210494"/>
                  </a:cubicBezTo>
                  <a:cubicBezTo>
                    <a:pt x="5085623" y="214322"/>
                    <a:pt x="5080432" y="216472"/>
                    <a:pt x="5075020" y="216472"/>
                  </a:cubicBezTo>
                  <a:lnTo>
                    <a:pt x="20409" y="216472"/>
                  </a:lnTo>
                  <a:cubicBezTo>
                    <a:pt x="14996" y="216472"/>
                    <a:pt x="9805" y="214322"/>
                    <a:pt x="5978" y="210494"/>
                  </a:cubicBezTo>
                  <a:cubicBezTo>
                    <a:pt x="2150" y="206667"/>
                    <a:pt x="0" y="201476"/>
                    <a:pt x="0" y="196063"/>
                  </a:cubicBezTo>
                  <a:lnTo>
                    <a:pt x="0" y="20409"/>
                  </a:lnTo>
                  <a:cubicBezTo>
                    <a:pt x="0" y="14996"/>
                    <a:pt x="2150" y="9805"/>
                    <a:pt x="5978" y="5978"/>
                  </a:cubicBezTo>
                  <a:cubicBezTo>
                    <a:pt x="9805" y="2150"/>
                    <a:pt x="14996" y="0"/>
                    <a:pt x="20409" y="0"/>
                  </a:cubicBezTo>
                  <a:close/>
                </a:path>
              </a:pathLst>
            </a:custGeom>
            <a:solidFill>
              <a:srgbClr val="FAE7BC"/>
            </a:solidFill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5095428" cy="2545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true" flipV="false" rot="0">
            <a:off x="17259300" y="3085173"/>
            <a:ext cx="4518707" cy="3939865"/>
          </a:xfrm>
          <a:custGeom>
            <a:avLst/>
            <a:gdLst/>
            <a:ahLst/>
            <a:cxnLst/>
            <a:rect r="r" b="b" t="t" l="l"/>
            <a:pathLst>
              <a:path h="3939865" w="4518707">
                <a:moveTo>
                  <a:pt x="4518707" y="0"/>
                </a:moveTo>
                <a:lnTo>
                  <a:pt x="0" y="0"/>
                </a:lnTo>
                <a:lnTo>
                  <a:pt x="0" y="3939864"/>
                </a:lnTo>
                <a:lnTo>
                  <a:pt x="4518707" y="3939864"/>
                </a:lnTo>
                <a:lnTo>
                  <a:pt x="451870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-3486583" y="3085173"/>
            <a:ext cx="4518707" cy="3939865"/>
          </a:xfrm>
          <a:custGeom>
            <a:avLst/>
            <a:gdLst/>
            <a:ahLst/>
            <a:cxnLst/>
            <a:rect r="r" b="b" t="t" l="l"/>
            <a:pathLst>
              <a:path h="3939865" w="4518707">
                <a:moveTo>
                  <a:pt x="0" y="0"/>
                </a:moveTo>
                <a:lnTo>
                  <a:pt x="4518707" y="0"/>
                </a:lnTo>
                <a:lnTo>
                  <a:pt x="4518707" y="3939864"/>
                </a:lnTo>
                <a:lnTo>
                  <a:pt x="0" y="39398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488343" y="-989670"/>
            <a:ext cx="1080715" cy="2956684"/>
            <a:chOff x="0" y="0"/>
            <a:chExt cx="284633" cy="778715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84633" cy="778715"/>
            </a:xfrm>
            <a:custGeom>
              <a:avLst/>
              <a:gdLst/>
              <a:ahLst/>
              <a:cxnLst/>
              <a:rect r="r" b="b" t="t" l="l"/>
              <a:pathLst>
                <a:path h="778715" w="284633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3" id="13"/>
          <p:cNvSpPr/>
          <p:nvPr/>
        </p:nvSpPr>
        <p:spPr>
          <a:xfrm flipH="false" flipV="false" rot="0">
            <a:off x="13780211" y="744202"/>
            <a:ext cx="2565728" cy="2833636"/>
          </a:xfrm>
          <a:custGeom>
            <a:avLst/>
            <a:gdLst/>
            <a:ahLst/>
            <a:cxnLst/>
            <a:rect r="r" b="b" t="t" l="l"/>
            <a:pathLst>
              <a:path h="2833636" w="2565728">
                <a:moveTo>
                  <a:pt x="0" y="0"/>
                </a:moveTo>
                <a:lnTo>
                  <a:pt x="2565728" y="0"/>
                </a:lnTo>
                <a:lnTo>
                  <a:pt x="2565728" y="2833636"/>
                </a:lnTo>
                <a:lnTo>
                  <a:pt x="0" y="283363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90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345348" y="6689137"/>
            <a:ext cx="3384888" cy="2904849"/>
          </a:xfrm>
          <a:custGeom>
            <a:avLst/>
            <a:gdLst/>
            <a:ahLst/>
            <a:cxnLst/>
            <a:rect r="r" b="b" t="t" l="l"/>
            <a:pathLst>
              <a:path h="2904849" w="3384888">
                <a:moveTo>
                  <a:pt x="0" y="0"/>
                </a:moveTo>
                <a:lnTo>
                  <a:pt x="3384888" y="0"/>
                </a:lnTo>
                <a:lnTo>
                  <a:pt x="3384888" y="2904849"/>
                </a:lnTo>
                <a:lnTo>
                  <a:pt x="0" y="290484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1940136" y="3256146"/>
            <a:ext cx="15149885" cy="2075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006"/>
              </a:lnSpc>
            </a:pPr>
            <a:r>
              <a:rPr lang="en-US" b="true" sz="12147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CAREER PREDICTION 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4312839" y="5606663"/>
            <a:ext cx="10131564" cy="20887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78"/>
              </a:lnSpc>
            </a:pPr>
            <a:r>
              <a:rPr lang="en-US" sz="3984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A Machine Learning Based Career Guidance System</a:t>
            </a:r>
          </a:p>
          <a:p>
            <a:pPr algn="ctr">
              <a:lnSpc>
                <a:spcPts val="5578"/>
              </a:lnSpc>
            </a:pP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718943" y="-989670"/>
            <a:ext cx="1080715" cy="2956684"/>
            <a:chOff x="0" y="0"/>
            <a:chExt cx="284633" cy="77871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84633" cy="778715"/>
            </a:xfrm>
            <a:custGeom>
              <a:avLst/>
              <a:gdLst/>
              <a:ahLst/>
              <a:cxnLst/>
              <a:rect r="r" b="b" t="t" l="l"/>
              <a:pathLst>
                <a:path h="778715" w="284633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-529352" y="9803843"/>
            <a:ext cx="19346704" cy="821917"/>
            <a:chOff x="0" y="0"/>
            <a:chExt cx="5095428" cy="21647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095428" cy="216472"/>
            </a:xfrm>
            <a:custGeom>
              <a:avLst/>
              <a:gdLst/>
              <a:ahLst/>
              <a:cxnLst/>
              <a:rect r="r" b="b" t="t" l="l"/>
              <a:pathLst>
                <a:path h="216472" w="5095428">
                  <a:moveTo>
                    <a:pt x="20409" y="0"/>
                  </a:moveTo>
                  <a:lnTo>
                    <a:pt x="5075020" y="0"/>
                  </a:lnTo>
                  <a:cubicBezTo>
                    <a:pt x="5086291" y="0"/>
                    <a:pt x="5095428" y="9137"/>
                    <a:pt x="5095428" y="20409"/>
                  </a:cubicBezTo>
                  <a:lnTo>
                    <a:pt x="5095428" y="196063"/>
                  </a:lnTo>
                  <a:cubicBezTo>
                    <a:pt x="5095428" y="201476"/>
                    <a:pt x="5093278" y="206667"/>
                    <a:pt x="5089451" y="210494"/>
                  </a:cubicBezTo>
                  <a:cubicBezTo>
                    <a:pt x="5085623" y="214322"/>
                    <a:pt x="5080432" y="216472"/>
                    <a:pt x="5075020" y="216472"/>
                  </a:cubicBezTo>
                  <a:lnTo>
                    <a:pt x="20409" y="216472"/>
                  </a:lnTo>
                  <a:cubicBezTo>
                    <a:pt x="14996" y="216472"/>
                    <a:pt x="9805" y="214322"/>
                    <a:pt x="5978" y="210494"/>
                  </a:cubicBezTo>
                  <a:cubicBezTo>
                    <a:pt x="2150" y="206667"/>
                    <a:pt x="0" y="201476"/>
                    <a:pt x="0" y="196063"/>
                  </a:cubicBezTo>
                  <a:lnTo>
                    <a:pt x="0" y="20409"/>
                  </a:lnTo>
                  <a:cubicBezTo>
                    <a:pt x="0" y="14996"/>
                    <a:pt x="2150" y="9805"/>
                    <a:pt x="5978" y="5978"/>
                  </a:cubicBezTo>
                  <a:cubicBezTo>
                    <a:pt x="9805" y="2150"/>
                    <a:pt x="14996" y="0"/>
                    <a:pt x="20409" y="0"/>
                  </a:cubicBezTo>
                  <a:close/>
                </a:path>
              </a:pathLst>
            </a:custGeom>
            <a:solidFill>
              <a:srgbClr val="FAE7BC"/>
            </a:solidFill>
            <a:ln w="85725" cap="rnd">
              <a:solidFill>
                <a:srgbClr val="494848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5095428" cy="2545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4875411" y="1693058"/>
            <a:ext cx="8537178" cy="14014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479"/>
              </a:lnSpc>
            </a:pPr>
            <a:r>
              <a:rPr lang="en-US" b="true" sz="8199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ABSTR</a:t>
            </a:r>
            <a:r>
              <a:rPr lang="en-US" b="true" sz="8199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ACT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454362" y="3701950"/>
            <a:ext cx="14392628" cy="44419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77240" indent="-388620" lvl="1">
              <a:lnSpc>
                <a:spcPts val="5040"/>
              </a:lnSpc>
              <a:buFont typeface="Arial"/>
              <a:buChar char="•"/>
            </a:pPr>
            <a:r>
              <a:rPr lang="en-US" sz="360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This project proposes a Machine Learning based Career Prediction System.</a:t>
            </a:r>
          </a:p>
          <a:p>
            <a:pPr algn="l" marL="777240" indent="-388620" lvl="1">
              <a:lnSpc>
                <a:spcPts val="5040"/>
              </a:lnSpc>
              <a:buFont typeface="Arial"/>
              <a:buChar char="•"/>
            </a:pPr>
            <a:r>
              <a:rPr lang="en-US" sz="360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It analyzes skills, interests, certifications, and behavioral attributes.</a:t>
            </a:r>
          </a:p>
          <a:p>
            <a:pPr algn="l" marL="777240" indent="-388620" lvl="1">
              <a:lnSpc>
                <a:spcPts val="5040"/>
              </a:lnSpc>
              <a:buFont typeface="Arial"/>
              <a:buChar char="•"/>
            </a:pPr>
            <a:r>
              <a:rPr lang="en-US" sz="360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The system supports multiple career recommendations for better decision making.</a:t>
            </a:r>
          </a:p>
          <a:p>
            <a:pPr algn="ctr">
              <a:lnSpc>
                <a:spcPts val="5096"/>
              </a:lnSpc>
            </a:pPr>
          </a:p>
        </p:txBody>
      </p:sp>
      <p:sp>
        <p:nvSpPr>
          <p:cNvPr name="Freeform 10" id="10"/>
          <p:cNvSpPr/>
          <p:nvPr/>
        </p:nvSpPr>
        <p:spPr>
          <a:xfrm flipH="true" flipV="false" rot="0">
            <a:off x="17259300" y="3085173"/>
            <a:ext cx="4518707" cy="3939865"/>
          </a:xfrm>
          <a:custGeom>
            <a:avLst/>
            <a:gdLst/>
            <a:ahLst/>
            <a:cxnLst/>
            <a:rect r="r" b="b" t="t" l="l"/>
            <a:pathLst>
              <a:path h="3939865" w="4518707">
                <a:moveTo>
                  <a:pt x="4518707" y="0"/>
                </a:moveTo>
                <a:lnTo>
                  <a:pt x="0" y="0"/>
                </a:lnTo>
                <a:lnTo>
                  <a:pt x="0" y="3939864"/>
                </a:lnTo>
                <a:lnTo>
                  <a:pt x="4518707" y="3939864"/>
                </a:lnTo>
                <a:lnTo>
                  <a:pt x="451870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-3486583" y="3085173"/>
            <a:ext cx="4518707" cy="3939865"/>
          </a:xfrm>
          <a:custGeom>
            <a:avLst/>
            <a:gdLst/>
            <a:ahLst/>
            <a:cxnLst/>
            <a:rect r="r" b="b" t="t" l="l"/>
            <a:pathLst>
              <a:path h="3939865" w="4518707">
                <a:moveTo>
                  <a:pt x="0" y="0"/>
                </a:moveTo>
                <a:lnTo>
                  <a:pt x="4518707" y="0"/>
                </a:lnTo>
                <a:lnTo>
                  <a:pt x="4518707" y="3939864"/>
                </a:lnTo>
                <a:lnTo>
                  <a:pt x="0" y="39398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2" id="12"/>
          <p:cNvGrpSpPr/>
          <p:nvPr/>
        </p:nvGrpSpPr>
        <p:grpSpPr>
          <a:xfrm rot="0">
            <a:off x="488343" y="-989670"/>
            <a:ext cx="1080715" cy="2956684"/>
            <a:chOff x="0" y="0"/>
            <a:chExt cx="284633" cy="778715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84633" cy="778715"/>
            </a:xfrm>
            <a:custGeom>
              <a:avLst/>
              <a:gdLst/>
              <a:ahLst/>
              <a:cxnLst/>
              <a:rect r="r" b="b" t="t" l="l"/>
              <a:pathLst>
                <a:path h="778715" w="284633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295618" y="3901237"/>
            <a:ext cx="12533687" cy="3830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77240" indent="-388620" lvl="1">
              <a:lnSpc>
                <a:spcPts val="5040"/>
              </a:lnSpc>
              <a:buFont typeface="Arial"/>
              <a:buChar char="•"/>
            </a:pPr>
            <a:r>
              <a:rPr lang="en-US" sz="360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Useful for students, career counselors, and educational institutions.</a:t>
            </a:r>
          </a:p>
          <a:p>
            <a:pPr algn="l" marL="777240" indent="-388620" lvl="1">
              <a:lnSpc>
                <a:spcPts val="5040"/>
              </a:lnSpc>
              <a:buFont typeface="Arial"/>
              <a:buChar char="•"/>
            </a:pPr>
            <a:r>
              <a:rPr lang="en-US" sz="360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Reduces human bias in career decision making.</a:t>
            </a:r>
          </a:p>
          <a:p>
            <a:pPr algn="l" marL="777240" indent="-388620" lvl="1">
              <a:lnSpc>
                <a:spcPts val="5040"/>
              </a:lnSpc>
              <a:buFont typeface="Arial"/>
              <a:buChar char="•"/>
            </a:pPr>
            <a:r>
              <a:rPr lang="en-US" sz="360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Can be extended for large-scale career guidance platforms.</a:t>
            </a:r>
          </a:p>
          <a:p>
            <a:pPr algn="l">
              <a:lnSpc>
                <a:spcPts val="5311"/>
              </a:lnSpc>
            </a:pPr>
          </a:p>
        </p:txBody>
      </p:sp>
      <p:grpSp>
        <p:nvGrpSpPr>
          <p:cNvPr name="Group 3" id="3"/>
          <p:cNvGrpSpPr/>
          <p:nvPr/>
        </p:nvGrpSpPr>
        <p:grpSpPr>
          <a:xfrm rot="0">
            <a:off x="16718943" y="-989670"/>
            <a:ext cx="1080715" cy="2956684"/>
            <a:chOff x="0" y="0"/>
            <a:chExt cx="284633" cy="778715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84633" cy="778715"/>
            </a:xfrm>
            <a:custGeom>
              <a:avLst/>
              <a:gdLst/>
              <a:ahLst/>
              <a:cxnLst/>
              <a:rect r="r" b="b" t="t" l="l"/>
              <a:pathLst>
                <a:path h="778715" w="284633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-529352" y="9803843"/>
            <a:ext cx="19346704" cy="821917"/>
            <a:chOff x="0" y="0"/>
            <a:chExt cx="5095428" cy="21647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095428" cy="216472"/>
            </a:xfrm>
            <a:custGeom>
              <a:avLst/>
              <a:gdLst/>
              <a:ahLst/>
              <a:cxnLst/>
              <a:rect r="r" b="b" t="t" l="l"/>
              <a:pathLst>
                <a:path h="216472" w="5095428">
                  <a:moveTo>
                    <a:pt x="20409" y="0"/>
                  </a:moveTo>
                  <a:lnTo>
                    <a:pt x="5075020" y="0"/>
                  </a:lnTo>
                  <a:cubicBezTo>
                    <a:pt x="5086291" y="0"/>
                    <a:pt x="5095428" y="9137"/>
                    <a:pt x="5095428" y="20409"/>
                  </a:cubicBezTo>
                  <a:lnTo>
                    <a:pt x="5095428" y="196063"/>
                  </a:lnTo>
                  <a:cubicBezTo>
                    <a:pt x="5095428" y="201476"/>
                    <a:pt x="5093278" y="206667"/>
                    <a:pt x="5089451" y="210494"/>
                  </a:cubicBezTo>
                  <a:cubicBezTo>
                    <a:pt x="5085623" y="214322"/>
                    <a:pt x="5080432" y="216472"/>
                    <a:pt x="5075020" y="216472"/>
                  </a:cubicBezTo>
                  <a:lnTo>
                    <a:pt x="20409" y="216472"/>
                  </a:lnTo>
                  <a:cubicBezTo>
                    <a:pt x="14996" y="216472"/>
                    <a:pt x="9805" y="214322"/>
                    <a:pt x="5978" y="210494"/>
                  </a:cubicBezTo>
                  <a:cubicBezTo>
                    <a:pt x="2150" y="206667"/>
                    <a:pt x="0" y="201476"/>
                    <a:pt x="0" y="196063"/>
                  </a:cubicBezTo>
                  <a:lnTo>
                    <a:pt x="0" y="20409"/>
                  </a:lnTo>
                  <a:cubicBezTo>
                    <a:pt x="0" y="14996"/>
                    <a:pt x="2150" y="9805"/>
                    <a:pt x="5978" y="5978"/>
                  </a:cubicBezTo>
                  <a:cubicBezTo>
                    <a:pt x="9805" y="2150"/>
                    <a:pt x="14996" y="0"/>
                    <a:pt x="20409" y="0"/>
                  </a:cubicBezTo>
                  <a:close/>
                </a:path>
              </a:pathLst>
            </a:custGeom>
            <a:solidFill>
              <a:srgbClr val="FAE7BC"/>
            </a:solidFill>
            <a:ln w="85725" cap="rnd">
              <a:solidFill>
                <a:srgbClr val="494848"/>
              </a:solidFill>
              <a:prstDash val="solid"/>
              <a:round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5095428" cy="2545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true" flipV="false" rot="0">
            <a:off x="17259300" y="3085173"/>
            <a:ext cx="4518707" cy="3939865"/>
          </a:xfrm>
          <a:custGeom>
            <a:avLst/>
            <a:gdLst/>
            <a:ahLst/>
            <a:cxnLst/>
            <a:rect r="r" b="b" t="t" l="l"/>
            <a:pathLst>
              <a:path h="3939865" w="4518707">
                <a:moveTo>
                  <a:pt x="4518707" y="0"/>
                </a:moveTo>
                <a:lnTo>
                  <a:pt x="0" y="0"/>
                </a:lnTo>
                <a:lnTo>
                  <a:pt x="0" y="3939864"/>
                </a:lnTo>
                <a:lnTo>
                  <a:pt x="4518707" y="3939864"/>
                </a:lnTo>
                <a:lnTo>
                  <a:pt x="451870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-3486583" y="3085173"/>
            <a:ext cx="4518707" cy="3939865"/>
          </a:xfrm>
          <a:custGeom>
            <a:avLst/>
            <a:gdLst/>
            <a:ahLst/>
            <a:cxnLst/>
            <a:rect r="r" b="b" t="t" l="l"/>
            <a:pathLst>
              <a:path h="3939865" w="4518707">
                <a:moveTo>
                  <a:pt x="0" y="0"/>
                </a:moveTo>
                <a:lnTo>
                  <a:pt x="4518707" y="0"/>
                </a:lnTo>
                <a:lnTo>
                  <a:pt x="4518707" y="3939864"/>
                </a:lnTo>
                <a:lnTo>
                  <a:pt x="0" y="39398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488343" y="-989670"/>
            <a:ext cx="1080715" cy="2956684"/>
            <a:chOff x="0" y="0"/>
            <a:chExt cx="284633" cy="778715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84633" cy="778715"/>
            </a:xfrm>
            <a:custGeom>
              <a:avLst/>
              <a:gdLst/>
              <a:ahLst/>
              <a:cxnLst/>
              <a:rect r="r" b="b" t="t" l="l"/>
              <a:pathLst>
                <a:path h="778715" w="284633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12741491" y="7013769"/>
            <a:ext cx="4204221" cy="2790074"/>
          </a:xfrm>
          <a:custGeom>
            <a:avLst/>
            <a:gdLst/>
            <a:ahLst/>
            <a:cxnLst/>
            <a:rect r="r" b="b" t="t" l="l"/>
            <a:pathLst>
              <a:path h="2790074" w="4204221">
                <a:moveTo>
                  <a:pt x="0" y="0"/>
                </a:moveTo>
                <a:lnTo>
                  <a:pt x="4204222" y="0"/>
                </a:lnTo>
                <a:lnTo>
                  <a:pt x="4204222" y="2790074"/>
                </a:lnTo>
                <a:lnTo>
                  <a:pt x="0" y="279007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3082673" y="1814615"/>
            <a:ext cx="11903804" cy="14014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479"/>
              </a:lnSpc>
            </a:pPr>
            <a:r>
              <a:rPr lang="en-US" b="true" sz="8199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SCOPE OF THE </a:t>
            </a:r>
            <a:r>
              <a:rPr lang="en-US" b="true" sz="8199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PROJECT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718943" y="-989670"/>
            <a:ext cx="1080715" cy="2956684"/>
            <a:chOff x="0" y="0"/>
            <a:chExt cx="284633" cy="77871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84633" cy="778715"/>
            </a:xfrm>
            <a:custGeom>
              <a:avLst/>
              <a:gdLst/>
              <a:ahLst/>
              <a:cxnLst/>
              <a:rect r="r" b="b" t="t" l="l"/>
              <a:pathLst>
                <a:path h="778715" w="284633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-529352" y="9803843"/>
            <a:ext cx="19346704" cy="821917"/>
            <a:chOff x="0" y="0"/>
            <a:chExt cx="5095428" cy="21647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095428" cy="216472"/>
            </a:xfrm>
            <a:custGeom>
              <a:avLst/>
              <a:gdLst/>
              <a:ahLst/>
              <a:cxnLst/>
              <a:rect r="r" b="b" t="t" l="l"/>
              <a:pathLst>
                <a:path h="216472" w="5095428">
                  <a:moveTo>
                    <a:pt x="20409" y="0"/>
                  </a:moveTo>
                  <a:lnTo>
                    <a:pt x="5075020" y="0"/>
                  </a:lnTo>
                  <a:cubicBezTo>
                    <a:pt x="5086291" y="0"/>
                    <a:pt x="5095428" y="9137"/>
                    <a:pt x="5095428" y="20409"/>
                  </a:cubicBezTo>
                  <a:lnTo>
                    <a:pt x="5095428" y="196063"/>
                  </a:lnTo>
                  <a:cubicBezTo>
                    <a:pt x="5095428" y="201476"/>
                    <a:pt x="5093278" y="206667"/>
                    <a:pt x="5089451" y="210494"/>
                  </a:cubicBezTo>
                  <a:cubicBezTo>
                    <a:pt x="5085623" y="214322"/>
                    <a:pt x="5080432" y="216472"/>
                    <a:pt x="5075020" y="216472"/>
                  </a:cubicBezTo>
                  <a:lnTo>
                    <a:pt x="20409" y="216472"/>
                  </a:lnTo>
                  <a:cubicBezTo>
                    <a:pt x="14996" y="216472"/>
                    <a:pt x="9805" y="214322"/>
                    <a:pt x="5978" y="210494"/>
                  </a:cubicBezTo>
                  <a:cubicBezTo>
                    <a:pt x="2150" y="206667"/>
                    <a:pt x="0" y="201476"/>
                    <a:pt x="0" y="196063"/>
                  </a:cubicBezTo>
                  <a:lnTo>
                    <a:pt x="0" y="20409"/>
                  </a:lnTo>
                  <a:cubicBezTo>
                    <a:pt x="0" y="14996"/>
                    <a:pt x="2150" y="9805"/>
                    <a:pt x="5978" y="5978"/>
                  </a:cubicBezTo>
                  <a:cubicBezTo>
                    <a:pt x="9805" y="2150"/>
                    <a:pt x="14996" y="0"/>
                    <a:pt x="20409" y="0"/>
                  </a:cubicBezTo>
                  <a:close/>
                </a:path>
              </a:pathLst>
            </a:custGeom>
            <a:solidFill>
              <a:srgbClr val="FAE7BC"/>
            </a:solidFill>
            <a:ln w="85725" cap="rnd">
              <a:solidFill>
                <a:srgbClr val="494848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5095428" cy="2545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true" flipV="false" rot="0">
            <a:off x="17259300" y="3085173"/>
            <a:ext cx="4518707" cy="3939865"/>
          </a:xfrm>
          <a:custGeom>
            <a:avLst/>
            <a:gdLst/>
            <a:ahLst/>
            <a:cxnLst/>
            <a:rect r="r" b="b" t="t" l="l"/>
            <a:pathLst>
              <a:path h="3939865" w="4518707">
                <a:moveTo>
                  <a:pt x="4518707" y="0"/>
                </a:moveTo>
                <a:lnTo>
                  <a:pt x="0" y="0"/>
                </a:lnTo>
                <a:lnTo>
                  <a:pt x="0" y="3939864"/>
                </a:lnTo>
                <a:lnTo>
                  <a:pt x="4518707" y="3939864"/>
                </a:lnTo>
                <a:lnTo>
                  <a:pt x="451870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-3486583" y="3085173"/>
            <a:ext cx="4518707" cy="3939865"/>
          </a:xfrm>
          <a:custGeom>
            <a:avLst/>
            <a:gdLst/>
            <a:ahLst/>
            <a:cxnLst/>
            <a:rect r="r" b="b" t="t" l="l"/>
            <a:pathLst>
              <a:path h="3939865" w="4518707">
                <a:moveTo>
                  <a:pt x="0" y="0"/>
                </a:moveTo>
                <a:lnTo>
                  <a:pt x="4518707" y="0"/>
                </a:lnTo>
                <a:lnTo>
                  <a:pt x="4518707" y="3939864"/>
                </a:lnTo>
                <a:lnTo>
                  <a:pt x="0" y="39398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488343" y="-989670"/>
            <a:ext cx="1080715" cy="2956684"/>
            <a:chOff x="0" y="0"/>
            <a:chExt cx="284633" cy="778715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84633" cy="778715"/>
            </a:xfrm>
            <a:custGeom>
              <a:avLst/>
              <a:gdLst/>
              <a:ahLst/>
              <a:cxnLst/>
              <a:rect r="r" b="b" t="t" l="l"/>
              <a:pathLst>
                <a:path h="778715" w="284633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4875411" y="1814615"/>
            <a:ext cx="8537178" cy="13951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469"/>
              </a:lnSpc>
            </a:pPr>
            <a:r>
              <a:rPr lang="en-US" b="true" sz="8192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W</a:t>
            </a:r>
            <a:r>
              <a:rPr lang="en-US" b="true" sz="8192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ORKFLOW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1176433" y="3653405"/>
            <a:ext cx="4067431" cy="1123495"/>
            <a:chOff x="0" y="0"/>
            <a:chExt cx="1392678" cy="384682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392678" cy="384682"/>
            </a:xfrm>
            <a:custGeom>
              <a:avLst/>
              <a:gdLst/>
              <a:ahLst/>
              <a:cxnLst/>
              <a:rect r="r" b="b" t="t" l="l"/>
              <a:pathLst>
                <a:path h="384682" w="1392678">
                  <a:moveTo>
                    <a:pt x="1189478" y="0"/>
                  </a:moveTo>
                  <a:cubicBezTo>
                    <a:pt x="1301702" y="0"/>
                    <a:pt x="1392678" y="86114"/>
                    <a:pt x="1392678" y="192341"/>
                  </a:cubicBezTo>
                  <a:cubicBezTo>
                    <a:pt x="1392678" y="298568"/>
                    <a:pt x="1301702" y="384682"/>
                    <a:pt x="1189478" y="384682"/>
                  </a:cubicBezTo>
                  <a:lnTo>
                    <a:pt x="203200" y="384682"/>
                  </a:lnTo>
                  <a:cubicBezTo>
                    <a:pt x="90976" y="384682"/>
                    <a:pt x="0" y="298568"/>
                    <a:pt x="0" y="192341"/>
                  </a:cubicBezTo>
                  <a:cubicBezTo>
                    <a:pt x="0" y="86114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1392678" cy="42278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AutoShape 17" id="17"/>
          <p:cNvSpPr/>
          <p:nvPr/>
        </p:nvSpPr>
        <p:spPr>
          <a:xfrm>
            <a:off x="5243864" y="4215152"/>
            <a:ext cx="1510323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8" id="18"/>
          <p:cNvGrpSpPr/>
          <p:nvPr/>
        </p:nvGrpSpPr>
        <p:grpSpPr>
          <a:xfrm rot="-10800000">
            <a:off x="12298246" y="6188953"/>
            <a:ext cx="4668083" cy="1123495"/>
            <a:chOff x="0" y="0"/>
            <a:chExt cx="1598339" cy="384682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598339" cy="384682"/>
            </a:xfrm>
            <a:custGeom>
              <a:avLst/>
              <a:gdLst/>
              <a:ahLst/>
              <a:cxnLst/>
              <a:rect r="r" b="b" t="t" l="l"/>
              <a:pathLst>
                <a:path h="384682" w="1598339">
                  <a:moveTo>
                    <a:pt x="1395139" y="0"/>
                  </a:moveTo>
                  <a:cubicBezTo>
                    <a:pt x="1507364" y="0"/>
                    <a:pt x="1598339" y="86114"/>
                    <a:pt x="1598339" y="192341"/>
                  </a:cubicBezTo>
                  <a:cubicBezTo>
                    <a:pt x="1598339" y="298568"/>
                    <a:pt x="1507364" y="384682"/>
                    <a:pt x="1395139" y="384682"/>
                  </a:cubicBezTo>
                  <a:lnTo>
                    <a:pt x="203200" y="384682"/>
                  </a:lnTo>
                  <a:cubicBezTo>
                    <a:pt x="90976" y="384682"/>
                    <a:pt x="0" y="298568"/>
                    <a:pt x="0" y="192341"/>
                  </a:cubicBezTo>
                  <a:cubicBezTo>
                    <a:pt x="0" y="86114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1598339" cy="42278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AutoShape 21" id="21"/>
          <p:cNvSpPr/>
          <p:nvPr/>
        </p:nvSpPr>
        <p:spPr>
          <a:xfrm flipH="true">
            <a:off x="10800749" y="6750700"/>
            <a:ext cx="1497496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2" id="22"/>
          <p:cNvGrpSpPr/>
          <p:nvPr/>
        </p:nvGrpSpPr>
        <p:grpSpPr>
          <a:xfrm rot="0">
            <a:off x="12628094" y="3699877"/>
            <a:ext cx="4338235" cy="1123495"/>
            <a:chOff x="0" y="0"/>
            <a:chExt cx="1485400" cy="384682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485400" cy="384682"/>
            </a:xfrm>
            <a:custGeom>
              <a:avLst/>
              <a:gdLst/>
              <a:ahLst/>
              <a:cxnLst/>
              <a:rect r="r" b="b" t="t" l="l"/>
              <a:pathLst>
                <a:path h="384682" w="1485400">
                  <a:moveTo>
                    <a:pt x="1282200" y="0"/>
                  </a:moveTo>
                  <a:cubicBezTo>
                    <a:pt x="1394425" y="0"/>
                    <a:pt x="1485400" y="86114"/>
                    <a:pt x="1485400" y="192341"/>
                  </a:cubicBezTo>
                  <a:cubicBezTo>
                    <a:pt x="1485400" y="298568"/>
                    <a:pt x="1394425" y="384682"/>
                    <a:pt x="1282200" y="384682"/>
                  </a:cubicBezTo>
                  <a:lnTo>
                    <a:pt x="203200" y="384682"/>
                  </a:lnTo>
                  <a:cubicBezTo>
                    <a:pt x="90976" y="384682"/>
                    <a:pt x="0" y="298568"/>
                    <a:pt x="0" y="192341"/>
                  </a:cubicBezTo>
                  <a:cubicBezTo>
                    <a:pt x="0" y="86114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38100"/>
              <a:ext cx="1485400" cy="42278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AutoShape 25" id="25"/>
          <p:cNvSpPr/>
          <p:nvPr/>
        </p:nvSpPr>
        <p:spPr>
          <a:xfrm flipV="true">
            <a:off x="14981185" y="4823372"/>
            <a:ext cx="0" cy="1365581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6" id="26"/>
          <p:cNvGrpSpPr/>
          <p:nvPr/>
        </p:nvGrpSpPr>
        <p:grpSpPr>
          <a:xfrm rot="0">
            <a:off x="6754187" y="3699877"/>
            <a:ext cx="4376410" cy="1030550"/>
            <a:chOff x="0" y="0"/>
            <a:chExt cx="1498471" cy="352858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498471" cy="352858"/>
            </a:xfrm>
            <a:custGeom>
              <a:avLst/>
              <a:gdLst/>
              <a:ahLst/>
              <a:cxnLst/>
              <a:rect r="r" b="b" t="t" l="l"/>
              <a:pathLst>
                <a:path h="352858" w="1498471">
                  <a:moveTo>
                    <a:pt x="1295271" y="0"/>
                  </a:moveTo>
                  <a:cubicBezTo>
                    <a:pt x="1407496" y="0"/>
                    <a:pt x="1498471" y="78990"/>
                    <a:pt x="1498471" y="176429"/>
                  </a:cubicBezTo>
                  <a:cubicBezTo>
                    <a:pt x="1498471" y="273868"/>
                    <a:pt x="1407496" y="352858"/>
                    <a:pt x="1295271" y="352858"/>
                  </a:cubicBezTo>
                  <a:lnTo>
                    <a:pt x="203200" y="352858"/>
                  </a:lnTo>
                  <a:cubicBezTo>
                    <a:pt x="90976" y="352858"/>
                    <a:pt x="0" y="273868"/>
                    <a:pt x="0" y="176429"/>
                  </a:cubicBezTo>
                  <a:cubicBezTo>
                    <a:pt x="0" y="78990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38100"/>
              <a:ext cx="1498471" cy="3909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AutoShape 29" id="29"/>
          <p:cNvSpPr/>
          <p:nvPr/>
        </p:nvSpPr>
        <p:spPr>
          <a:xfrm>
            <a:off x="11130597" y="4215152"/>
            <a:ext cx="1497496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0" id="30"/>
          <p:cNvGrpSpPr/>
          <p:nvPr/>
        </p:nvGrpSpPr>
        <p:grpSpPr>
          <a:xfrm rot="-10800000">
            <a:off x="6754187" y="6188953"/>
            <a:ext cx="4046562" cy="1123495"/>
            <a:chOff x="0" y="0"/>
            <a:chExt cx="1385532" cy="384682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385532" cy="384682"/>
            </a:xfrm>
            <a:custGeom>
              <a:avLst/>
              <a:gdLst/>
              <a:ahLst/>
              <a:cxnLst/>
              <a:rect r="r" b="b" t="t" l="l"/>
              <a:pathLst>
                <a:path h="384682" w="1385532">
                  <a:moveTo>
                    <a:pt x="1182332" y="0"/>
                  </a:moveTo>
                  <a:cubicBezTo>
                    <a:pt x="1294557" y="0"/>
                    <a:pt x="1385532" y="86114"/>
                    <a:pt x="1385532" y="192341"/>
                  </a:cubicBezTo>
                  <a:cubicBezTo>
                    <a:pt x="1385532" y="298568"/>
                    <a:pt x="1294557" y="384682"/>
                    <a:pt x="1182332" y="384682"/>
                  </a:cubicBezTo>
                  <a:lnTo>
                    <a:pt x="203200" y="384682"/>
                  </a:lnTo>
                  <a:cubicBezTo>
                    <a:pt x="90976" y="384682"/>
                    <a:pt x="0" y="298568"/>
                    <a:pt x="0" y="192341"/>
                  </a:cubicBezTo>
                  <a:cubicBezTo>
                    <a:pt x="0" y="86114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38100"/>
              <a:ext cx="1385532" cy="42278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33" id="33"/>
          <p:cNvSpPr txBox="true"/>
          <p:nvPr/>
        </p:nvSpPr>
        <p:spPr>
          <a:xfrm rot="0">
            <a:off x="1922855" y="4038277"/>
            <a:ext cx="2952556" cy="692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Data Preprocessing </a:t>
            </a:r>
          </a:p>
          <a:p>
            <a:pPr algn="l">
              <a:lnSpc>
                <a:spcPts val="2800"/>
              </a:lnSpc>
            </a:pPr>
          </a:p>
        </p:txBody>
      </p:sp>
      <p:sp>
        <p:nvSpPr>
          <p:cNvPr name="TextBox 34" id="34"/>
          <p:cNvSpPr txBox="true"/>
          <p:nvPr/>
        </p:nvSpPr>
        <p:spPr>
          <a:xfrm rot="0">
            <a:off x="13412589" y="6620297"/>
            <a:ext cx="2952556" cy="692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Model Evaluation</a:t>
            </a:r>
          </a:p>
          <a:p>
            <a:pPr algn="l">
              <a:lnSpc>
                <a:spcPts val="2800"/>
              </a:lnSpc>
            </a:pPr>
          </a:p>
        </p:txBody>
      </p:sp>
      <p:sp>
        <p:nvSpPr>
          <p:cNvPr name="TextBox 35" id="35"/>
          <p:cNvSpPr txBox="true"/>
          <p:nvPr/>
        </p:nvSpPr>
        <p:spPr>
          <a:xfrm rot="0">
            <a:off x="13766387" y="4038277"/>
            <a:ext cx="2952556" cy="692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Model Training </a:t>
            </a:r>
          </a:p>
          <a:p>
            <a:pPr algn="l">
              <a:lnSpc>
                <a:spcPts val="2800"/>
              </a:lnSpc>
            </a:pPr>
          </a:p>
        </p:txBody>
      </p:sp>
      <p:sp>
        <p:nvSpPr>
          <p:cNvPr name="TextBox 36" id="36"/>
          <p:cNvSpPr txBox="true"/>
          <p:nvPr/>
        </p:nvSpPr>
        <p:spPr>
          <a:xfrm rot="0">
            <a:off x="7649537" y="4038277"/>
            <a:ext cx="2952556" cy="692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Feature Engineering </a:t>
            </a:r>
          </a:p>
          <a:p>
            <a:pPr algn="l">
              <a:lnSpc>
                <a:spcPts val="2800"/>
              </a:lnSpc>
            </a:pPr>
          </a:p>
        </p:txBody>
      </p:sp>
      <p:sp>
        <p:nvSpPr>
          <p:cNvPr name="TextBox 37" id="37"/>
          <p:cNvSpPr txBox="true"/>
          <p:nvPr/>
        </p:nvSpPr>
        <p:spPr>
          <a:xfrm rot="0">
            <a:off x="7466114" y="6444085"/>
            <a:ext cx="2952556" cy="1044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Career Prediction and Recommendation</a:t>
            </a:r>
          </a:p>
          <a:p>
            <a:pPr algn="l">
              <a:lnSpc>
                <a:spcPts val="2800"/>
              </a:lnSpc>
            </a:pP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583432" y="1814615"/>
            <a:ext cx="13958058" cy="14014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479"/>
              </a:lnSpc>
            </a:pPr>
            <a:r>
              <a:rPr lang="en-US" b="true" sz="8199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TECHNICAL REQUI</a:t>
            </a:r>
            <a:r>
              <a:rPr lang="en-US" b="true" sz="8199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REMENTS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3295618" y="3901237"/>
            <a:ext cx="12533687" cy="3830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3600" b="true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Programming Language</a:t>
            </a:r>
            <a:r>
              <a:rPr lang="en-US" sz="360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Python</a:t>
            </a:r>
          </a:p>
          <a:p>
            <a:pPr algn="l" marL="777240" indent="-388620" lvl="1">
              <a:lnSpc>
                <a:spcPts val="5040"/>
              </a:lnSpc>
              <a:buFont typeface="Arial"/>
              <a:buChar char="•"/>
            </a:pPr>
            <a:r>
              <a:rPr lang="en-US" b="true" sz="3600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Libraries</a:t>
            </a:r>
            <a:r>
              <a:rPr lang="en-US" sz="360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Pandas, NumPy, Scikit-learn</a:t>
            </a:r>
          </a:p>
          <a:p>
            <a:pPr algn="l" marL="777240" indent="-388620" lvl="1">
              <a:lnSpc>
                <a:spcPts val="5040"/>
              </a:lnSpc>
              <a:buFont typeface="Arial"/>
              <a:buChar char="•"/>
            </a:pPr>
            <a:r>
              <a:rPr lang="en-US" b="true" sz="3600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Machine Learning Model</a:t>
            </a:r>
            <a:r>
              <a:rPr lang="en-US" sz="360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Random Forest Classifier</a:t>
            </a:r>
          </a:p>
          <a:p>
            <a:pPr algn="l" marL="777240" indent="-388620" lvl="1">
              <a:lnSpc>
                <a:spcPts val="5040"/>
              </a:lnSpc>
              <a:buFont typeface="Arial"/>
              <a:buChar char="•"/>
            </a:pPr>
            <a:r>
              <a:rPr lang="en-US" b="true" sz="3600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Tools</a:t>
            </a:r>
            <a:r>
              <a:rPr lang="en-US" sz="360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 Google Colab, Streamlit, VS Code</a:t>
            </a:r>
          </a:p>
          <a:p>
            <a:pPr algn="l" marL="777240" indent="-388620" lvl="1">
              <a:lnSpc>
                <a:spcPts val="5040"/>
              </a:lnSpc>
              <a:buFont typeface="Arial"/>
              <a:buChar char="•"/>
            </a:pPr>
            <a:r>
              <a:rPr lang="en-US" b="true" sz="3600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Hardware</a:t>
            </a:r>
            <a:r>
              <a:rPr lang="en-US" sz="360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Minimum 4GB RAM, Standard CPU</a:t>
            </a:r>
          </a:p>
          <a:p>
            <a:pPr algn="l">
              <a:lnSpc>
                <a:spcPts val="5311"/>
              </a:lnSpc>
            </a:pPr>
          </a:p>
        </p:txBody>
      </p:sp>
      <p:grpSp>
        <p:nvGrpSpPr>
          <p:cNvPr name="Group 4" id="4"/>
          <p:cNvGrpSpPr/>
          <p:nvPr/>
        </p:nvGrpSpPr>
        <p:grpSpPr>
          <a:xfrm rot="0">
            <a:off x="16718943" y="-989670"/>
            <a:ext cx="1080715" cy="2956684"/>
            <a:chOff x="0" y="0"/>
            <a:chExt cx="284633" cy="77871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84633" cy="778715"/>
            </a:xfrm>
            <a:custGeom>
              <a:avLst/>
              <a:gdLst/>
              <a:ahLst/>
              <a:cxnLst/>
              <a:rect r="r" b="b" t="t" l="l"/>
              <a:pathLst>
                <a:path h="778715" w="284633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-529352" y="9803843"/>
            <a:ext cx="19346704" cy="821917"/>
            <a:chOff x="0" y="0"/>
            <a:chExt cx="5095428" cy="21647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095428" cy="216472"/>
            </a:xfrm>
            <a:custGeom>
              <a:avLst/>
              <a:gdLst/>
              <a:ahLst/>
              <a:cxnLst/>
              <a:rect r="r" b="b" t="t" l="l"/>
              <a:pathLst>
                <a:path h="216472" w="5095428">
                  <a:moveTo>
                    <a:pt x="20409" y="0"/>
                  </a:moveTo>
                  <a:lnTo>
                    <a:pt x="5075020" y="0"/>
                  </a:lnTo>
                  <a:cubicBezTo>
                    <a:pt x="5086291" y="0"/>
                    <a:pt x="5095428" y="9137"/>
                    <a:pt x="5095428" y="20409"/>
                  </a:cubicBezTo>
                  <a:lnTo>
                    <a:pt x="5095428" y="196063"/>
                  </a:lnTo>
                  <a:cubicBezTo>
                    <a:pt x="5095428" y="201476"/>
                    <a:pt x="5093278" y="206667"/>
                    <a:pt x="5089451" y="210494"/>
                  </a:cubicBezTo>
                  <a:cubicBezTo>
                    <a:pt x="5085623" y="214322"/>
                    <a:pt x="5080432" y="216472"/>
                    <a:pt x="5075020" y="216472"/>
                  </a:cubicBezTo>
                  <a:lnTo>
                    <a:pt x="20409" y="216472"/>
                  </a:lnTo>
                  <a:cubicBezTo>
                    <a:pt x="14996" y="216472"/>
                    <a:pt x="9805" y="214322"/>
                    <a:pt x="5978" y="210494"/>
                  </a:cubicBezTo>
                  <a:cubicBezTo>
                    <a:pt x="2150" y="206667"/>
                    <a:pt x="0" y="201476"/>
                    <a:pt x="0" y="196063"/>
                  </a:cubicBezTo>
                  <a:lnTo>
                    <a:pt x="0" y="20409"/>
                  </a:lnTo>
                  <a:cubicBezTo>
                    <a:pt x="0" y="14996"/>
                    <a:pt x="2150" y="9805"/>
                    <a:pt x="5978" y="5978"/>
                  </a:cubicBezTo>
                  <a:cubicBezTo>
                    <a:pt x="9805" y="2150"/>
                    <a:pt x="14996" y="0"/>
                    <a:pt x="20409" y="0"/>
                  </a:cubicBezTo>
                  <a:close/>
                </a:path>
              </a:pathLst>
            </a:custGeom>
            <a:solidFill>
              <a:srgbClr val="FAE7BC"/>
            </a:solidFill>
            <a:ln w="85725" cap="rnd">
              <a:solidFill>
                <a:srgbClr val="494848"/>
              </a:solidFill>
              <a:prstDash val="solid"/>
              <a:round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5095428" cy="2545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true" flipV="false" rot="0">
            <a:off x="17259300" y="3085173"/>
            <a:ext cx="4518707" cy="3939865"/>
          </a:xfrm>
          <a:custGeom>
            <a:avLst/>
            <a:gdLst/>
            <a:ahLst/>
            <a:cxnLst/>
            <a:rect r="r" b="b" t="t" l="l"/>
            <a:pathLst>
              <a:path h="3939865" w="4518707">
                <a:moveTo>
                  <a:pt x="4518707" y="0"/>
                </a:moveTo>
                <a:lnTo>
                  <a:pt x="0" y="0"/>
                </a:lnTo>
                <a:lnTo>
                  <a:pt x="0" y="3939864"/>
                </a:lnTo>
                <a:lnTo>
                  <a:pt x="4518707" y="3939864"/>
                </a:lnTo>
                <a:lnTo>
                  <a:pt x="451870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-3486583" y="3085173"/>
            <a:ext cx="4518707" cy="3939865"/>
          </a:xfrm>
          <a:custGeom>
            <a:avLst/>
            <a:gdLst/>
            <a:ahLst/>
            <a:cxnLst/>
            <a:rect r="r" b="b" t="t" l="l"/>
            <a:pathLst>
              <a:path h="3939865" w="4518707">
                <a:moveTo>
                  <a:pt x="0" y="0"/>
                </a:moveTo>
                <a:lnTo>
                  <a:pt x="4518707" y="0"/>
                </a:lnTo>
                <a:lnTo>
                  <a:pt x="4518707" y="3939864"/>
                </a:lnTo>
                <a:lnTo>
                  <a:pt x="0" y="39398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2" id="12"/>
          <p:cNvGrpSpPr/>
          <p:nvPr/>
        </p:nvGrpSpPr>
        <p:grpSpPr>
          <a:xfrm rot="0">
            <a:off x="488343" y="-989670"/>
            <a:ext cx="1080715" cy="2956684"/>
            <a:chOff x="0" y="0"/>
            <a:chExt cx="284633" cy="778715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84633" cy="778715"/>
            </a:xfrm>
            <a:custGeom>
              <a:avLst/>
              <a:gdLst/>
              <a:ahLst/>
              <a:cxnLst/>
              <a:rect r="r" b="b" t="t" l="l"/>
              <a:pathLst>
                <a:path h="778715" w="284633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940136" y="3313296"/>
            <a:ext cx="15149885" cy="33198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367"/>
              </a:lnSpc>
            </a:pPr>
            <a:r>
              <a:rPr lang="en-US" b="true" sz="9548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MACHINE LEARNING MODELS 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16718943" y="-989670"/>
            <a:ext cx="1080715" cy="2956684"/>
            <a:chOff x="0" y="0"/>
            <a:chExt cx="284633" cy="778715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84633" cy="778715"/>
            </a:xfrm>
            <a:custGeom>
              <a:avLst/>
              <a:gdLst/>
              <a:ahLst/>
              <a:cxnLst/>
              <a:rect r="r" b="b" t="t" l="l"/>
              <a:pathLst>
                <a:path h="778715" w="284633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-529352" y="9803843"/>
            <a:ext cx="19346704" cy="821917"/>
            <a:chOff x="0" y="0"/>
            <a:chExt cx="5095428" cy="21647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095428" cy="216472"/>
            </a:xfrm>
            <a:custGeom>
              <a:avLst/>
              <a:gdLst/>
              <a:ahLst/>
              <a:cxnLst/>
              <a:rect r="r" b="b" t="t" l="l"/>
              <a:pathLst>
                <a:path h="216472" w="5095428">
                  <a:moveTo>
                    <a:pt x="20409" y="0"/>
                  </a:moveTo>
                  <a:lnTo>
                    <a:pt x="5075020" y="0"/>
                  </a:lnTo>
                  <a:cubicBezTo>
                    <a:pt x="5086291" y="0"/>
                    <a:pt x="5095428" y="9137"/>
                    <a:pt x="5095428" y="20409"/>
                  </a:cubicBezTo>
                  <a:lnTo>
                    <a:pt x="5095428" y="196063"/>
                  </a:lnTo>
                  <a:cubicBezTo>
                    <a:pt x="5095428" y="201476"/>
                    <a:pt x="5093278" y="206667"/>
                    <a:pt x="5089451" y="210494"/>
                  </a:cubicBezTo>
                  <a:cubicBezTo>
                    <a:pt x="5085623" y="214322"/>
                    <a:pt x="5080432" y="216472"/>
                    <a:pt x="5075020" y="216472"/>
                  </a:cubicBezTo>
                  <a:lnTo>
                    <a:pt x="20409" y="216472"/>
                  </a:lnTo>
                  <a:cubicBezTo>
                    <a:pt x="14996" y="216472"/>
                    <a:pt x="9805" y="214322"/>
                    <a:pt x="5978" y="210494"/>
                  </a:cubicBezTo>
                  <a:cubicBezTo>
                    <a:pt x="2150" y="206667"/>
                    <a:pt x="0" y="201476"/>
                    <a:pt x="0" y="196063"/>
                  </a:cubicBezTo>
                  <a:lnTo>
                    <a:pt x="0" y="20409"/>
                  </a:lnTo>
                  <a:cubicBezTo>
                    <a:pt x="0" y="14996"/>
                    <a:pt x="2150" y="9805"/>
                    <a:pt x="5978" y="5978"/>
                  </a:cubicBezTo>
                  <a:cubicBezTo>
                    <a:pt x="9805" y="2150"/>
                    <a:pt x="14996" y="0"/>
                    <a:pt x="20409" y="0"/>
                  </a:cubicBezTo>
                  <a:close/>
                </a:path>
              </a:pathLst>
            </a:custGeom>
            <a:solidFill>
              <a:srgbClr val="FAE7BC"/>
            </a:solidFill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5095428" cy="2545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true" flipV="false" rot="0">
            <a:off x="17259300" y="3085173"/>
            <a:ext cx="4518707" cy="3939865"/>
          </a:xfrm>
          <a:custGeom>
            <a:avLst/>
            <a:gdLst/>
            <a:ahLst/>
            <a:cxnLst/>
            <a:rect r="r" b="b" t="t" l="l"/>
            <a:pathLst>
              <a:path h="3939865" w="4518707">
                <a:moveTo>
                  <a:pt x="4518707" y="0"/>
                </a:moveTo>
                <a:lnTo>
                  <a:pt x="0" y="0"/>
                </a:lnTo>
                <a:lnTo>
                  <a:pt x="0" y="3939864"/>
                </a:lnTo>
                <a:lnTo>
                  <a:pt x="4518707" y="3939864"/>
                </a:lnTo>
                <a:lnTo>
                  <a:pt x="451870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-3486583" y="3085173"/>
            <a:ext cx="4518707" cy="3939865"/>
          </a:xfrm>
          <a:custGeom>
            <a:avLst/>
            <a:gdLst/>
            <a:ahLst/>
            <a:cxnLst/>
            <a:rect r="r" b="b" t="t" l="l"/>
            <a:pathLst>
              <a:path h="3939865" w="4518707">
                <a:moveTo>
                  <a:pt x="0" y="0"/>
                </a:moveTo>
                <a:lnTo>
                  <a:pt x="4518707" y="0"/>
                </a:lnTo>
                <a:lnTo>
                  <a:pt x="4518707" y="3939864"/>
                </a:lnTo>
                <a:lnTo>
                  <a:pt x="0" y="39398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488343" y="-989670"/>
            <a:ext cx="1080715" cy="2956684"/>
            <a:chOff x="0" y="0"/>
            <a:chExt cx="284633" cy="778715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84633" cy="778715"/>
            </a:xfrm>
            <a:custGeom>
              <a:avLst/>
              <a:gdLst/>
              <a:ahLst/>
              <a:cxnLst/>
              <a:rect r="r" b="b" t="t" l="l"/>
              <a:pathLst>
                <a:path h="778715" w="284633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569057" y="1814615"/>
            <a:ext cx="15018317" cy="13951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469"/>
              </a:lnSpc>
            </a:pPr>
            <a:r>
              <a:rPr lang="en-US" b="true" sz="8192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SUPPORT VECTOR MACHINE 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2514384" y="4086777"/>
            <a:ext cx="8358707" cy="31661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77240" indent="-388620" lvl="1">
              <a:lnSpc>
                <a:spcPts val="5040"/>
              </a:lnSpc>
              <a:buFont typeface="Arial"/>
              <a:buChar char="•"/>
            </a:pPr>
            <a:r>
              <a:rPr lang="en-US" sz="360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Achieved an accuracy of 83%</a:t>
            </a:r>
          </a:p>
          <a:p>
            <a:pPr algn="l" marL="777240" indent="-388620" lvl="1">
              <a:lnSpc>
                <a:spcPts val="5040"/>
              </a:lnSpc>
              <a:buFont typeface="Arial"/>
              <a:buChar char="•"/>
            </a:pPr>
            <a:r>
              <a:rPr lang="en-US" sz="360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Used for comparison and validation</a:t>
            </a:r>
          </a:p>
          <a:p>
            <a:pPr algn="l" marL="777240" indent="-388620" lvl="1">
              <a:lnSpc>
                <a:spcPts val="5040"/>
              </a:lnSpc>
              <a:buFont typeface="Arial"/>
              <a:buChar char="•"/>
            </a:pPr>
            <a:r>
              <a:rPr lang="en-US" sz="360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Required more tuning and computational effort</a:t>
            </a:r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11179470" y="3821287"/>
            <a:ext cx="3985975" cy="3985975"/>
          </a:xfrm>
          <a:prstGeom prst="rect">
            <a:avLst/>
          </a:prstGeom>
        </p:spPr>
      </p:pic>
      <p:grpSp>
        <p:nvGrpSpPr>
          <p:cNvPr name="Group 5" id="5"/>
          <p:cNvGrpSpPr/>
          <p:nvPr/>
        </p:nvGrpSpPr>
        <p:grpSpPr>
          <a:xfrm rot="0">
            <a:off x="16718943" y="-989670"/>
            <a:ext cx="1080715" cy="2956684"/>
            <a:chOff x="0" y="0"/>
            <a:chExt cx="284633" cy="77871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84633" cy="778715"/>
            </a:xfrm>
            <a:custGeom>
              <a:avLst/>
              <a:gdLst/>
              <a:ahLst/>
              <a:cxnLst/>
              <a:rect r="r" b="b" t="t" l="l"/>
              <a:pathLst>
                <a:path h="778715" w="284633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-529352" y="9803843"/>
            <a:ext cx="19346704" cy="821917"/>
            <a:chOff x="0" y="0"/>
            <a:chExt cx="5095428" cy="21647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095428" cy="216472"/>
            </a:xfrm>
            <a:custGeom>
              <a:avLst/>
              <a:gdLst/>
              <a:ahLst/>
              <a:cxnLst/>
              <a:rect r="r" b="b" t="t" l="l"/>
              <a:pathLst>
                <a:path h="216472" w="5095428">
                  <a:moveTo>
                    <a:pt x="20409" y="0"/>
                  </a:moveTo>
                  <a:lnTo>
                    <a:pt x="5075020" y="0"/>
                  </a:lnTo>
                  <a:cubicBezTo>
                    <a:pt x="5086291" y="0"/>
                    <a:pt x="5095428" y="9137"/>
                    <a:pt x="5095428" y="20409"/>
                  </a:cubicBezTo>
                  <a:lnTo>
                    <a:pt x="5095428" y="196063"/>
                  </a:lnTo>
                  <a:cubicBezTo>
                    <a:pt x="5095428" y="201476"/>
                    <a:pt x="5093278" y="206667"/>
                    <a:pt x="5089451" y="210494"/>
                  </a:cubicBezTo>
                  <a:cubicBezTo>
                    <a:pt x="5085623" y="214322"/>
                    <a:pt x="5080432" y="216472"/>
                    <a:pt x="5075020" y="216472"/>
                  </a:cubicBezTo>
                  <a:lnTo>
                    <a:pt x="20409" y="216472"/>
                  </a:lnTo>
                  <a:cubicBezTo>
                    <a:pt x="14996" y="216472"/>
                    <a:pt x="9805" y="214322"/>
                    <a:pt x="5978" y="210494"/>
                  </a:cubicBezTo>
                  <a:cubicBezTo>
                    <a:pt x="2150" y="206667"/>
                    <a:pt x="0" y="201476"/>
                    <a:pt x="0" y="196063"/>
                  </a:cubicBezTo>
                  <a:lnTo>
                    <a:pt x="0" y="20409"/>
                  </a:lnTo>
                  <a:cubicBezTo>
                    <a:pt x="0" y="14996"/>
                    <a:pt x="2150" y="9805"/>
                    <a:pt x="5978" y="5978"/>
                  </a:cubicBezTo>
                  <a:cubicBezTo>
                    <a:pt x="9805" y="2150"/>
                    <a:pt x="14996" y="0"/>
                    <a:pt x="20409" y="0"/>
                  </a:cubicBezTo>
                  <a:close/>
                </a:path>
              </a:pathLst>
            </a:custGeom>
            <a:solidFill>
              <a:srgbClr val="FAE7BC"/>
            </a:solidFill>
            <a:ln w="85725" cap="rnd">
              <a:solidFill>
                <a:srgbClr val="494848"/>
              </a:solidFill>
              <a:prstDash val="solid"/>
              <a:round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5095428" cy="2545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true" flipV="false" rot="0">
            <a:off x="17259300" y="3085173"/>
            <a:ext cx="4518707" cy="3939865"/>
          </a:xfrm>
          <a:custGeom>
            <a:avLst/>
            <a:gdLst/>
            <a:ahLst/>
            <a:cxnLst/>
            <a:rect r="r" b="b" t="t" l="l"/>
            <a:pathLst>
              <a:path h="3939865" w="4518707">
                <a:moveTo>
                  <a:pt x="4518707" y="0"/>
                </a:moveTo>
                <a:lnTo>
                  <a:pt x="0" y="0"/>
                </a:lnTo>
                <a:lnTo>
                  <a:pt x="0" y="3939864"/>
                </a:lnTo>
                <a:lnTo>
                  <a:pt x="4518707" y="3939864"/>
                </a:lnTo>
                <a:lnTo>
                  <a:pt x="4518707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-3486583" y="3085173"/>
            <a:ext cx="4518707" cy="3939865"/>
          </a:xfrm>
          <a:custGeom>
            <a:avLst/>
            <a:gdLst/>
            <a:ahLst/>
            <a:cxnLst/>
            <a:rect r="r" b="b" t="t" l="l"/>
            <a:pathLst>
              <a:path h="3939865" w="4518707">
                <a:moveTo>
                  <a:pt x="0" y="0"/>
                </a:moveTo>
                <a:lnTo>
                  <a:pt x="4518707" y="0"/>
                </a:lnTo>
                <a:lnTo>
                  <a:pt x="4518707" y="3939864"/>
                </a:lnTo>
                <a:lnTo>
                  <a:pt x="0" y="393986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3" id="13"/>
          <p:cNvGrpSpPr/>
          <p:nvPr/>
        </p:nvGrpSpPr>
        <p:grpSpPr>
          <a:xfrm rot="0">
            <a:off x="488343" y="-989670"/>
            <a:ext cx="1080715" cy="2956684"/>
            <a:chOff x="0" y="0"/>
            <a:chExt cx="284633" cy="778715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84633" cy="778715"/>
            </a:xfrm>
            <a:custGeom>
              <a:avLst/>
              <a:gdLst/>
              <a:ahLst/>
              <a:cxnLst/>
              <a:rect r="r" b="b" t="t" l="l"/>
              <a:pathLst>
                <a:path h="778715" w="284633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569057" y="1814615"/>
            <a:ext cx="15018317" cy="13951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469"/>
              </a:lnSpc>
            </a:pPr>
            <a:r>
              <a:rPr lang="en-US" b="true" sz="8192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RANDOM FOREST CLASSIFIER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2514384" y="4086777"/>
            <a:ext cx="8358707" cy="44424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77240" indent="-388620" lvl="1">
              <a:lnSpc>
                <a:spcPts val="5040"/>
              </a:lnSpc>
              <a:buFont typeface="Arial"/>
              <a:buChar char="•"/>
            </a:pPr>
            <a:r>
              <a:rPr lang="en-US" sz="360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Achieved an accuracy of 87%</a:t>
            </a:r>
          </a:p>
          <a:p>
            <a:pPr algn="l" marL="777240" indent="-388620" lvl="1">
              <a:lnSpc>
                <a:spcPts val="5040"/>
              </a:lnSpc>
              <a:buFont typeface="Arial"/>
              <a:buChar char="•"/>
            </a:pPr>
            <a:r>
              <a:rPr lang="en-US" sz="360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Provided the highest performance among all tested models</a:t>
            </a:r>
          </a:p>
          <a:p>
            <a:pPr algn="l" marL="777240" indent="-388620" lvl="1">
              <a:lnSpc>
                <a:spcPts val="5040"/>
              </a:lnSpc>
              <a:buFont typeface="Arial"/>
              <a:buChar char="•"/>
            </a:pPr>
            <a:r>
              <a:rPr lang="en-US" sz="360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Effectively handled mixed features such as skills, interests, and behavioral data</a:t>
            </a:r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11179470" y="3821287"/>
            <a:ext cx="3985975" cy="3985975"/>
          </a:xfrm>
          <a:prstGeom prst="rect">
            <a:avLst/>
          </a:prstGeom>
        </p:spPr>
      </p:pic>
      <p:grpSp>
        <p:nvGrpSpPr>
          <p:cNvPr name="Group 5" id="5"/>
          <p:cNvGrpSpPr/>
          <p:nvPr/>
        </p:nvGrpSpPr>
        <p:grpSpPr>
          <a:xfrm rot="0">
            <a:off x="16718943" y="-989670"/>
            <a:ext cx="1080715" cy="2956684"/>
            <a:chOff x="0" y="0"/>
            <a:chExt cx="284633" cy="77871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84633" cy="778715"/>
            </a:xfrm>
            <a:custGeom>
              <a:avLst/>
              <a:gdLst/>
              <a:ahLst/>
              <a:cxnLst/>
              <a:rect r="r" b="b" t="t" l="l"/>
              <a:pathLst>
                <a:path h="778715" w="284633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-529352" y="9803843"/>
            <a:ext cx="19346704" cy="821917"/>
            <a:chOff x="0" y="0"/>
            <a:chExt cx="5095428" cy="21647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095428" cy="216472"/>
            </a:xfrm>
            <a:custGeom>
              <a:avLst/>
              <a:gdLst/>
              <a:ahLst/>
              <a:cxnLst/>
              <a:rect r="r" b="b" t="t" l="l"/>
              <a:pathLst>
                <a:path h="216472" w="5095428">
                  <a:moveTo>
                    <a:pt x="20409" y="0"/>
                  </a:moveTo>
                  <a:lnTo>
                    <a:pt x="5075020" y="0"/>
                  </a:lnTo>
                  <a:cubicBezTo>
                    <a:pt x="5086291" y="0"/>
                    <a:pt x="5095428" y="9137"/>
                    <a:pt x="5095428" y="20409"/>
                  </a:cubicBezTo>
                  <a:lnTo>
                    <a:pt x="5095428" y="196063"/>
                  </a:lnTo>
                  <a:cubicBezTo>
                    <a:pt x="5095428" y="201476"/>
                    <a:pt x="5093278" y="206667"/>
                    <a:pt x="5089451" y="210494"/>
                  </a:cubicBezTo>
                  <a:cubicBezTo>
                    <a:pt x="5085623" y="214322"/>
                    <a:pt x="5080432" y="216472"/>
                    <a:pt x="5075020" y="216472"/>
                  </a:cubicBezTo>
                  <a:lnTo>
                    <a:pt x="20409" y="216472"/>
                  </a:lnTo>
                  <a:cubicBezTo>
                    <a:pt x="14996" y="216472"/>
                    <a:pt x="9805" y="214322"/>
                    <a:pt x="5978" y="210494"/>
                  </a:cubicBezTo>
                  <a:cubicBezTo>
                    <a:pt x="2150" y="206667"/>
                    <a:pt x="0" y="201476"/>
                    <a:pt x="0" y="196063"/>
                  </a:cubicBezTo>
                  <a:lnTo>
                    <a:pt x="0" y="20409"/>
                  </a:lnTo>
                  <a:cubicBezTo>
                    <a:pt x="0" y="14996"/>
                    <a:pt x="2150" y="9805"/>
                    <a:pt x="5978" y="5978"/>
                  </a:cubicBezTo>
                  <a:cubicBezTo>
                    <a:pt x="9805" y="2150"/>
                    <a:pt x="14996" y="0"/>
                    <a:pt x="20409" y="0"/>
                  </a:cubicBezTo>
                  <a:close/>
                </a:path>
              </a:pathLst>
            </a:custGeom>
            <a:solidFill>
              <a:srgbClr val="FAE7BC"/>
            </a:solidFill>
            <a:ln w="85725" cap="rnd">
              <a:solidFill>
                <a:srgbClr val="494848"/>
              </a:solidFill>
              <a:prstDash val="solid"/>
              <a:round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5095428" cy="2545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true" flipV="false" rot="0">
            <a:off x="17259300" y="3085173"/>
            <a:ext cx="4518707" cy="3939865"/>
          </a:xfrm>
          <a:custGeom>
            <a:avLst/>
            <a:gdLst/>
            <a:ahLst/>
            <a:cxnLst/>
            <a:rect r="r" b="b" t="t" l="l"/>
            <a:pathLst>
              <a:path h="3939865" w="4518707">
                <a:moveTo>
                  <a:pt x="4518707" y="0"/>
                </a:moveTo>
                <a:lnTo>
                  <a:pt x="0" y="0"/>
                </a:lnTo>
                <a:lnTo>
                  <a:pt x="0" y="3939864"/>
                </a:lnTo>
                <a:lnTo>
                  <a:pt x="4518707" y="3939864"/>
                </a:lnTo>
                <a:lnTo>
                  <a:pt x="4518707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-3486583" y="3085173"/>
            <a:ext cx="4518707" cy="3939865"/>
          </a:xfrm>
          <a:custGeom>
            <a:avLst/>
            <a:gdLst/>
            <a:ahLst/>
            <a:cxnLst/>
            <a:rect r="r" b="b" t="t" l="l"/>
            <a:pathLst>
              <a:path h="3939865" w="4518707">
                <a:moveTo>
                  <a:pt x="0" y="0"/>
                </a:moveTo>
                <a:lnTo>
                  <a:pt x="4518707" y="0"/>
                </a:lnTo>
                <a:lnTo>
                  <a:pt x="4518707" y="3939864"/>
                </a:lnTo>
                <a:lnTo>
                  <a:pt x="0" y="393986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3" id="13"/>
          <p:cNvGrpSpPr/>
          <p:nvPr/>
        </p:nvGrpSpPr>
        <p:grpSpPr>
          <a:xfrm rot="0">
            <a:off x="488343" y="-989670"/>
            <a:ext cx="1080715" cy="2956684"/>
            <a:chOff x="0" y="0"/>
            <a:chExt cx="284633" cy="778715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84633" cy="778715"/>
            </a:xfrm>
            <a:custGeom>
              <a:avLst/>
              <a:gdLst/>
              <a:ahLst/>
              <a:cxnLst/>
              <a:rect r="r" b="b" t="t" l="l"/>
              <a:pathLst>
                <a:path h="778715" w="284633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295618" y="3901237"/>
            <a:ext cx="12533687" cy="5106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360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Accepts student data such as skills, interests, and certifications.</a:t>
            </a:r>
          </a:p>
          <a:p>
            <a:pPr algn="l" marL="777240" indent="-388620" lvl="1">
              <a:lnSpc>
                <a:spcPts val="5040"/>
              </a:lnSpc>
              <a:buFont typeface="Arial"/>
              <a:buChar char="•"/>
            </a:pPr>
            <a:r>
              <a:rPr lang="en-US" sz="360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Uses automated preprocessing with ML pipeline architecture.</a:t>
            </a:r>
          </a:p>
          <a:p>
            <a:pPr algn="l" marL="777240" indent="-388620" lvl="1">
              <a:lnSpc>
                <a:spcPts val="5040"/>
              </a:lnSpc>
              <a:buFont typeface="Arial"/>
              <a:buChar char="•"/>
            </a:pPr>
            <a:r>
              <a:rPr lang="en-US" sz="360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Applies Random Forest model for career prediction.</a:t>
            </a:r>
          </a:p>
          <a:p>
            <a:pPr algn="l" marL="777240" indent="-388620" lvl="1">
              <a:lnSpc>
                <a:spcPts val="5040"/>
              </a:lnSpc>
              <a:buFont typeface="Arial"/>
              <a:buChar char="•"/>
            </a:pPr>
            <a:r>
              <a:rPr lang="en-US" sz="360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Provides top career recommendations instead of a single option.</a:t>
            </a:r>
          </a:p>
          <a:p>
            <a:pPr algn="l">
              <a:lnSpc>
                <a:spcPts val="5311"/>
              </a:lnSpc>
            </a:pPr>
          </a:p>
        </p:txBody>
      </p:sp>
      <p:grpSp>
        <p:nvGrpSpPr>
          <p:cNvPr name="Group 3" id="3"/>
          <p:cNvGrpSpPr/>
          <p:nvPr/>
        </p:nvGrpSpPr>
        <p:grpSpPr>
          <a:xfrm rot="0">
            <a:off x="16718943" y="-989670"/>
            <a:ext cx="1080715" cy="2956684"/>
            <a:chOff x="0" y="0"/>
            <a:chExt cx="284633" cy="778715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84633" cy="778715"/>
            </a:xfrm>
            <a:custGeom>
              <a:avLst/>
              <a:gdLst/>
              <a:ahLst/>
              <a:cxnLst/>
              <a:rect r="r" b="b" t="t" l="l"/>
              <a:pathLst>
                <a:path h="778715" w="284633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-529352" y="9803843"/>
            <a:ext cx="19346704" cy="821917"/>
            <a:chOff x="0" y="0"/>
            <a:chExt cx="5095428" cy="21647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095428" cy="216472"/>
            </a:xfrm>
            <a:custGeom>
              <a:avLst/>
              <a:gdLst/>
              <a:ahLst/>
              <a:cxnLst/>
              <a:rect r="r" b="b" t="t" l="l"/>
              <a:pathLst>
                <a:path h="216472" w="5095428">
                  <a:moveTo>
                    <a:pt x="20409" y="0"/>
                  </a:moveTo>
                  <a:lnTo>
                    <a:pt x="5075020" y="0"/>
                  </a:lnTo>
                  <a:cubicBezTo>
                    <a:pt x="5086291" y="0"/>
                    <a:pt x="5095428" y="9137"/>
                    <a:pt x="5095428" y="20409"/>
                  </a:cubicBezTo>
                  <a:lnTo>
                    <a:pt x="5095428" y="196063"/>
                  </a:lnTo>
                  <a:cubicBezTo>
                    <a:pt x="5095428" y="201476"/>
                    <a:pt x="5093278" y="206667"/>
                    <a:pt x="5089451" y="210494"/>
                  </a:cubicBezTo>
                  <a:cubicBezTo>
                    <a:pt x="5085623" y="214322"/>
                    <a:pt x="5080432" y="216472"/>
                    <a:pt x="5075020" y="216472"/>
                  </a:cubicBezTo>
                  <a:lnTo>
                    <a:pt x="20409" y="216472"/>
                  </a:lnTo>
                  <a:cubicBezTo>
                    <a:pt x="14996" y="216472"/>
                    <a:pt x="9805" y="214322"/>
                    <a:pt x="5978" y="210494"/>
                  </a:cubicBezTo>
                  <a:cubicBezTo>
                    <a:pt x="2150" y="206667"/>
                    <a:pt x="0" y="201476"/>
                    <a:pt x="0" y="196063"/>
                  </a:cubicBezTo>
                  <a:lnTo>
                    <a:pt x="0" y="20409"/>
                  </a:lnTo>
                  <a:cubicBezTo>
                    <a:pt x="0" y="14996"/>
                    <a:pt x="2150" y="9805"/>
                    <a:pt x="5978" y="5978"/>
                  </a:cubicBezTo>
                  <a:cubicBezTo>
                    <a:pt x="9805" y="2150"/>
                    <a:pt x="14996" y="0"/>
                    <a:pt x="20409" y="0"/>
                  </a:cubicBezTo>
                  <a:close/>
                </a:path>
              </a:pathLst>
            </a:custGeom>
            <a:solidFill>
              <a:srgbClr val="FAE7BC"/>
            </a:solidFill>
            <a:ln w="85725" cap="rnd">
              <a:solidFill>
                <a:srgbClr val="494848"/>
              </a:solidFill>
              <a:prstDash val="solid"/>
              <a:round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5095428" cy="2545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true" flipV="false" rot="0">
            <a:off x="17259300" y="3085173"/>
            <a:ext cx="4518707" cy="3939865"/>
          </a:xfrm>
          <a:custGeom>
            <a:avLst/>
            <a:gdLst/>
            <a:ahLst/>
            <a:cxnLst/>
            <a:rect r="r" b="b" t="t" l="l"/>
            <a:pathLst>
              <a:path h="3939865" w="4518707">
                <a:moveTo>
                  <a:pt x="4518707" y="0"/>
                </a:moveTo>
                <a:lnTo>
                  <a:pt x="0" y="0"/>
                </a:lnTo>
                <a:lnTo>
                  <a:pt x="0" y="3939864"/>
                </a:lnTo>
                <a:lnTo>
                  <a:pt x="4518707" y="3939864"/>
                </a:lnTo>
                <a:lnTo>
                  <a:pt x="451870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-3486583" y="3085173"/>
            <a:ext cx="4518707" cy="3939865"/>
          </a:xfrm>
          <a:custGeom>
            <a:avLst/>
            <a:gdLst/>
            <a:ahLst/>
            <a:cxnLst/>
            <a:rect r="r" b="b" t="t" l="l"/>
            <a:pathLst>
              <a:path h="3939865" w="4518707">
                <a:moveTo>
                  <a:pt x="0" y="0"/>
                </a:moveTo>
                <a:lnTo>
                  <a:pt x="4518707" y="0"/>
                </a:lnTo>
                <a:lnTo>
                  <a:pt x="4518707" y="3939864"/>
                </a:lnTo>
                <a:lnTo>
                  <a:pt x="0" y="39398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488343" y="-989670"/>
            <a:ext cx="1080715" cy="2956684"/>
            <a:chOff x="0" y="0"/>
            <a:chExt cx="284633" cy="778715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84633" cy="778715"/>
            </a:xfrm>
            <a:custGeom>
              <a:avLst/>
              <a:gdLst/>
              <a:ahLst/>
              <a:cxnLst/>
              <a:rect r="r" b="b" t="t" l="l"/>
              <a:pathLst>
                <a:path h="778715" w="284633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0" y="0"/>
            <a:ext cx="4021895" cy="3685519"/>
          </a:xfrm>
          <a:custGeom>
            <a:avLst/>
            <a:gdLst/>
            <a:ahLst/>
            <a:cxnLst/>
            <a:rect r="r" b="b" t="t" l="l"/>
            <a:pathLst>
              <a:path h="3685519" w="4021895">
                <a:moveTo>
                  <a:pt x="0" y="0"/>
                </a:moveTo>
                <a:lnTo>
                  <a:pt x="4021895" y="0"/>
                </a:lnTo>
                <a:lnTo>
                  <a:pt x="4021895" y="3685519"/>
                </a:lnTo>
                <a:lnTo>
                  <a:pt x="0" y="368551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2760885" y="1814615"/>
            <a:ext cx="11903804" cy="14014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479"/>
              </a:lnSpc>
            </a:pPr>
            <a:r>
              <a:rPr lang="en-US" b="true" sz="8199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PROPOSED SYSTEM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440343" y="1690069"/>
            <a:ext cx="8537178" cy="13951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469"/>
              </a:lnSpc>
            </a:pPr>
            <a:r>
              <a:rPr lang="en-US" b="true" sz="8192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F</a:t>
            </a:r>
            <a:r>
              <a:rPr lang="en-US" b="true" sz="8192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UTURE SCOPE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3565774" y="4086777"/>
            <a:ext cx="11615954" cy="44414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96"/>
              </a:lnSpc>
            </a:pPr>
            <a:r>
              <a:rPr lang="en-US" sz="364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Integration with real-time academic databases.</a:t>
            </a:r>
          </a:p>
          <a:p>
            <a:pPr algn="l" marL="785932" indent="-392966" lvl="1">
              <a:lnSpc>
                <a:spcPts val="5096"/>
              </a:lnSpc>
              <a:buFont typeface="Arial"/>
              <a:buChar char="•"/>
            </a:pPr>
            <a:r>
              <a:rPr lang="en-US" sz="364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Addition of salary and job market trend analysis.</a:t>
            </a:r>
          </a:p>
          <a:p>
            <a:pPr algn="l" marL="785932" indent="-392966" lvl="1">
              <a:lnSpc>
                <a:spcPts val="5096"/>
              </a:lnSpc>
              <a:buFont typeface="Arial"/>
              <a:buChar char="•"/>
            </a:pPr>
            <a:r>
              <a:rPr lang="en-US" sz="364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Use of deep learning models for improved accuracy.</a:t>
            </a:r>
          </a:p>
          <a:p>
            <a:pPr algn="l" marL="785932" indent="-392966" lvl="1">
              <a:lnSpc>
                <a:spcPts val="5096"/>
              </a:lnSpc>
              <a:buFont typeface="Arial"/>
              <a:buChar char="•"/>
            </a:pPr>
            <a:r>
              <a:rPr lang="en-US" sz="364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Mobile and web application deployment.</a:t>
            </a:r>
          </a:p>
          <a:p>
            <a:pPr algn="l" marL="785932" indent="-392966" lvl="1">
              <a:lnSpc>
                <a:spcPts val="5096"/>
              </a:lnSpc>
              <a:buFont typeface="Arial"/>
              <a:buChar char="•"/>
            </a:pPr>
            <a:r>
              <a:rPr lang="en-US" sz="364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Personalized course and skill recommendations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6718943" y="-989670"/>
            <a:ext cx="1080715" cy="2956684"/>
            <a:chOff x="0" y="0"/>
            <a:chExt cx="284633" cy="77871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84633" cy="778715"/>
            </a:xfrm>
            <a:custGeom>
              <a:avLst/>
              <a:gdLst/>
              <a:ahLst/>
              <a:cxnLst/>
              <a:rect r="r" b="b" t="t" l="l"/>
              <a:pathLst>
                <a:path h="778715" w="284633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-529352" y="9803843"/>
            <a:ext cx="19346704" cy="821917"/>
            <a:chOff x="0" y="0"/>
            <a:chExt cx="5095428" cy="21647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095428" cy="216472"/>
            </a:xfrm>
            <a:custGeom>
              <a:avLst/>
              <a:gdLst/>
              <a:ahLst/>
              <a:cxnLst/>
              <a:rect r="r" b="b" t="t" l="l"/>
              <a:pathLst>
                <a:path h="216472" w="5095428">
                  <a:moveTo>
                    <a:pt x="20409" y="0"/>
                  </a:moveTo>
                  <a:lnTo>
                    <a:pt x="5075020" y="0"/>
                  </a:lnTo>
                  <a:cubicBezTo>
                    <a:pt x="5086291" y="0"/>
                    <a:pt x="5095428" y="9137"/>
                    <a:pt x="5095428" y="20409"/>
                  </a:cubicBezTo>
                  <a:lnTo>
                    <a:pt x="5095428" y="196063"/>
                  </a:lnTo>
                  <a:cubicBezTo>
                    <a:pt x="5095428" y="201476"/>
                    <a:pt x="5093278" y="206667"/>
                    <a:pt x="5089451" y="210494"/>
                  </a:cubicBezTo>
                  <a:cubicBezTo>
                    <a:pt x="5085623" y="214322"/>
                    <a:pt x="5080432" y="216472"/>
                    <a:pt x="5075020" y="216472"/>
                  </a:cubicBezTo>
                  <a:lnTo>
                    <a:pt x="20409" y="216472"/>
                  </a:lnTo>
                  <a:cubicBezTo>
                    <a:pt x="14996" y="216472"/>
                    <a:pt x="9805" y="214322"/>
                    <a:pt x="5978" y="210494"/>
                  </a:cubicBezTo>
                  <a:cubicBezTo>
                    <a:pt x="2150" y="206667"/>
                    <a:pt x="0" y="201476"/>
                    <a:pt x="0" y="196063"/>
                  </a:cubicBezTo>
                  <a:lnTo>
                    <a:pt x="0" y="20409"/>
                  </a:lnTo>
                  <a:cubicBezTo>
                    <a:pt x="0" y="14996"/>
                    <a:pt x="2150" y="9805"/>
                    <a:pt x="5978" y="5978"/>
                  </a:cubicBezTo>
                  <a:cubicBezTo>
                    <a:pt x="9805" y="2150"/>
                    <a:pt x="14996" y="0"/>
                    <a:pt x="20409" y="0"/>
                  </a:cubicBezTo>
                  <a:close/>
                </a:path>
              </a:pathLst>
            </a:custGeom>
            <a:solidFill>
              <a:srgbClr val="FAE7BC"/>
            </a:solidFill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5095428" cy="2545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true" flipV="false" rot="0">
            <a:off x="17259300" y="3085173"/>
            <a:ext cx="4518707" cy="3939865"/>
          </a:xfrm>
          <a:custGeom>
            <a:avLst/>
            <a:gdLst/>
            <a:ahLst/>
            <a:cxnLst/>
            <a:rect r="r" b="b" t="t" l="l"/>
            <a:pathLst>
              <a:path h="3939865" w="4518707">
                <a:moveTo>
                  <a:pt x="4518707" y="0"/>
                </a:moveTo>
                <a:lnTo>
                  <a:pt x="0" y="0"/>
                </a:lnTo>
                <a:lnTo>
                  <a:pt x="0" y="3939864"/>
                </a:lnTo>
                <a:lnTo>
                  <a:pt x="4518707" y="3939864"/>
                </a:lnTo>
                <a:lnTo>
                  <a:pt x="451870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-3486583" y="3085173"/>
            <a:ext cx="4518707" cy="3939865"/>
          </a:xfrm>
          <a:custGeom>
            <a:avLst/>
            <a:gdLst/>
            <a:ahLst/>
            <a:cxnLst/>
            <a:rect r="r" b="b" t="t" l="l"/>
            <a:pathLst>
              <a:path h="3939865" w="4518707">
                <a:moveTo>
                  <a:pt x="0" y="0"/>
                </a:moveTo>
                <a:lnTo>
                  <a:pt x="4518707" y="0"/>
                </a:lnTo>
                <a:lnTo>
                  <a:pt x="4518707" y="3939864"/>
                </a:lnTo>
                <a:lnTo>
                  <a:pt x="0" y="39398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2" id="12"/>
          <p:cNvGrpSpPr/>
          <p:nvPr/>
        </p:nvGrpSpPr>
        <p:grpSpPr>
          <a:xfrm rot="0">
            <a:off x="488343" y="-989670"/>
            <a:ext cx="1080715" cy="2956684"/>
            <a:chOff x="0" y="0"/>
            <a:chExt cx="284633" cy="778715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84633" cy="778715"/>
            </a:xfrm>
            <a:custGeom>
              <a:avLst/>
              <a:gdLst/>
              <a:ahLst/>
              <a:cxnLst/>
              <a:rect r="r" b="b" t="t" l="l"/>
              <a:pathLst>
                <a:path h="778715" w="284633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875411" y="1690069"/>
            <a:ext cx="8537178" cy="13951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469"/>
              </a:lnSpc>
            </a:pPr>
            <a:r>
              <a:rPr lang="en-US" b="true" sz="8192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CONCLUSION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3377408" y="3871364"/>
            <a:ext cx="12069186" cy="38032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85932" indent="-392966" lvl="1">
              <a:lnSpc>
                <a:spcPts val="5096"/>
              </a:lnSpc>
              <a:buFont typeface="Arial"/>
              <a:buChar char="•"/>
            </a:pPr>
            <a:r>
              <a:rPr lang="en-US" sz="364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A Machine Learning based Career Prediction System was developed.</a:t>
            </a:r>
          </a:p>
          <a:p>
            <a:pPr algn="l" marL="785932" indent="-392966" lvl="1">
              <a:lnSpc>
                <a:spcPts val="5096"/>
              </a:lnSpc>
              <a:buFont typeface="Arial"/>
              <a:buChar char="•"/>
            </a:pPr>
            <a:r>
              <a:rPr lang="en-US" sz="364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Random Forest classifier provided effective career recommendations.</a:t>
            </a:r>
          </a:p>
          <a:p>
            <a:pPr algn="l" marL="785932" indent="-392966" lvl="1">
              <a:lnSpc>
                <a:spcPts val="5096"/>
              </a:lnSpc>
              <a:buFont typeface="Arial"/>
              <a:buChar char="•"/>
            </a:pPr>
            <a:r>
              <a:rPr lang="en-US" sz="364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The system supports informed and data-driven career decisions.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6718943" y="-989670"/>
            <a:ext cx="1080715" cy="2956684"/>
            <a:chOff x="0" y="0"/>
            <a:chExt cx="284633" cy="77871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84633" cy="778715"/>
            </a:xfrm>
            <a:custGeom>
              <a:avLst/>
              <a:gdLst/>
              <a:ahLst/>
              <a:cxnLst/>
              <a:rect r="r" b="b" t="t" l="l"/>
              <a:pathLst>
                <a:path h="778715" w="284633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-529352" y="9803843"/>
            <a:ext cx="19346704" cy="821917"/>
            <a:chOff x="0" y="0"/>
            <a:chExt cx="5095428" cy="21647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095428" cy="216472"/>
            </a:xfrm>
            <a:custGeom>
              <a:avLst/>
              <a:gdLst/>
              <a:ahLst/>
              <a:cxnLst/>
              <a:rect r="r" b="b" t="t" l="l"/>
              <a:pathLst>
                <a:path h="216472" w="5095428">
                  <a:moveTo>
                    <a:pt x="20409" y="0"/>
                  </a:moveTo>
                  <a:lnTo>
                    <a:pt x="5075020" y="0"/>
                  </a:lnTo>
                  <a:cubicBezTo>
                    <a:pt x="5086291" y="0"/>
                    <a:pt x="5095428" y="9137"/>
                    <a:pt x="5095428" y="20409"/>
                  </a:cubicBezTo>
                  <a:lnTo>
                    <a:pt x="5095428" y="196063"/>
                  </a:lnTo>
                  <a:cubicBezTo>
                    <a:pt x="5095428" y="201476"/>
                    <a:pt x="5093278" y="206667"/>
                    <a:pt x="5089451" y="210494"/>
                  </a:cubicBezTo>
                  <a:cubicBezTo>
                    <a:pt x="5085623" y="214322"/>
                    <a:pt x="5080432" y="216472"/>
                    <a:pt x="5075020" y="216472"/>
                  </a:cubicBezTo>
                  <a:lnTo>
                    <a:pt x="20409" y="216472"/>
                  </a:lnTo>
                  <a:cubicBezTo>
                    <a:pt x="14996" y="216472"/>
                    <a:pt x="9805" y="214322"/>
                    <a:pt x="5978" y="210494"/>
                  </a:cubicBezTo>
                  <a:cubicBezTo>
                    <a:pt x="2150" y="206667"/>
                    <a:pt x="0" y="201476"/>
                    <a:pt x="0" y="196063"/>
                  </a:cubicBezTo>
                  <a:lnTo>
                    <a:pt x="0" y="20409"/>
                  </a:lnTo>
                  <a:cubicBezTo>
                    <a:pt x="0" y="14996"/>
                    <a:pt x="2150" y="9805"/>
                    <a:pt x="5978" y="5978"/>
                  </a:cubicBezTo>
                  <a:cubicBezTo>
                    <a:pt x="9805" y="2150"/>
                    <a:pt x="14996" y="0"/>
                    <a:pt x="20409" y="0"/>
                  </a:cubicBezTo>
                  <a:close/>
                </a:path>
              </a:pathLst>
            </a:custGeom>
            <a:solidFill>
              <a:srgbClr val="FAE7BC"/>
            </a:solidFill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5095428" cy="2545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true" flipV="false" rot="0">
            <a:off x="17259300" y="3085173"/>
            <a:ext cx="4518707" cy="3939865"/>
          </a:xfrm>
          <a:custGeom>
            <a:avLst/>
            <a:gdLst/>
            <a:ahLst/>
            <a:cxnLst/>
            <a:rect r="r" b="b" t="t" l="l"/>
            <a:pathLst>
              <a:path h="3939865" w="4518707">
                <a:moveTo>
                  <a:pt x="4518707" y="0"/>
                </a:moveTo>
                <a:lnTo>
                  <a:pt x="0" y="0"/>
                </a:lnTo>
                <a:lnTo>
                  <a:pt x="0" y="3939864"/>
                </a:lnTo>
                <a:lnTo>
                  <a:pt x="4518707" y="3939864"/>
                </a:lnTo>
                <a:lnTo>
                  <a:pt x="451870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-3486583" y="3085173"/>
            <a:ext cx="4518707" cy="3939865"/>
          </a:xfrm>
          <a:custGeom>
            <a:avLst/>
            <a:gdLst/>
            <a:ahLst/>
            <a:cxnLst/>
            <a:rect r="r" b="b" t="t" l="l"/>
            <a:pathLst>
              <a:path h="3939865" w="4518707">
                <a:moveTo>
                  <a:pt x="0" y="0"/>
                </a:moveTo>
                <a:lnTo>
                  <a:pt x="4518707" y="0"/>
                </a:lnTo>
                <a:lnTo>
                  <a:pt x="4518707" y="3939864"/>
                </a:lnTo>
                <a:lnTo>
                  <a:pt x="0" y="39398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2" id="12"/>
          <p:cNvGrpSpPr/>
          <p:nvPr/>
        </p:nvGrpSpPr>
        <p:grpSpPr>
          <a:xfrm rot="0">
            <a:off x="488343" y="-989670"/>
            <a:ext cx="1080715" cy="2956684"/>
            <a:chOff x="0" y="0"/>
            <a:chExt cx="284633" cy="778715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84633" cy="778715"/>
            </a:xfrm>
            <a:custGeom>
              <a:avLst/>
              <a:gdLst/>
              <a:ahLst/>
              <a:cxnLst/>
              <a:rect r="r" b="b" t="t" l="l"/>
              <a:pathLst>
                <a:path h="778715" w="284633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718943" y="-989670"/>
            <a:ext cx="1080715" cy="2956684"/>
            <a:chOff x="0" y="0"/>
            <a:chExt cx="284633" cy="77871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84633" cy="778715"/>
            </a:xfrm>
            <a:custGeom>
              <a:avLst/>
              <a:gdLst/>
              <a:ahLst/>
              <a:cxnLst/>
              <a:rect r="r" b="b" t="t" l="l"/>
              <a:pathLst>
                <a:path h="778715" w="284633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-529352" y="9803843"/>
            <a:ext cx="19346704" cy="821917"/>
            <a:chOff x="0" y="0"/>
            <a:chExt cx="5095428" cy="21647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095428" cy="216472"/>
            </a:xfrm>
            <a:custGeom>
              <a:avLst/>
              <a:gdLst/>
              <a:ahLst/>
              <a:cxnLst/>
              <a:rect r="r" b="b" t="t" l="l"/>
              <a:pathLst>
                <a:path h="216472" w="5095428">
                  <a:moveTo>
                    <a:pt x="20409" y="0"/>
                  </a:moveTo>
                  <a:lnTo>
                    <a:pt x="5075020" y="0"/>
                  </a:lnTo>
                  <a:cubicBezTo>
                    <a:pt x="5086291" y="0"/>
                    <a:pt x="5095428" y="9137"/>
                    <a:pt x="5095428" y="20409"/>
                  </a:cubicBezTo>
                  <a:lnTo>
                    <a:pt x="5095428" y="196063"/>
                  </a:lnTo>
                  <a:cubicBezTo>
                    <a:pt x="5095428" y="201476"/>
                    <a:pt x="5093278" y="206667"/>
                    <a:pt x="5089451" y="210494"/>
                  </a:cubicBezTo>
                  <a:cubicBezTo>
                    <a:pt x="5085623" y="214322"/>
                    <a:pt x="5080432" y="216472"/>
                    <a:pt x="5075020" y="216472"/>
                  </a:cubicBezTo>
                  <a:lnTo>
                    <a:pt x="20409" y="216472"/>
                  </a:lnTo>
                  <a:cubicBezTo>
                    <a:pt x="14996" y="216472"/>
                    <a:pt x="9805" y="214322"/>
                    <a:pt x="5978" y="210494"/>
                  </a:cubicBezTo>
                  <a:cubicBezTo>
                    <a:pt x="2150" y="206667"/>
                    <a:pt x="0" y="201476"/>
                    <a:pt x="0" y="196063"/>
                  </a:cubicBezTo>
                  <a:lnTo>
                    <a:pt x="0" y="20409"/>
                  </a:lnTo>
                  <a:cubicBezTo>
                    <a:pt x="0" y="14996"/>
                    <a:pt x="2150" y="9805"/>
                    <a:pt x="5978" y="5978"/>
                  </a:cubicBezTo>
                  <a:cubicBezTo>
                    <a:pt x="9805" y="2150"/>
                    <a:pt x="14996" y="0"/>
                    <a:pt x="20409" y="0"/>
                  </a:cubicBezTo>
                  <a:close/>
                </a:path>
              </a:pathLst>
            </a:custGeom>
            <a:solidFill>
              <a:srgbClr val="FAE7BC"/>
            </a:solidFill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5095428" cy="2545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true" flipV="false" rot="0">
            <a:off x="17259300" y="3085173"/>
            <a:ext cx="4518707" cy="3939865"/>
          </a:xfrm>
          <a:custGeom>
            <a:avLst/>
            <a:gdLst/>
            <a:ahLst/>
            <a:cxnLst/>
            <a:rect r="r" b="b" t="t" l="l"/>
            <a:pathLst>
              <a:path h="3939865" w="4518707">
                <a:moveTo>
                  <a:pt x="4518707" y="0"/>
                </a:moveTo>
                <a:lnTo>
                  <a:pt x="0" y="0"/>
                </a:lnTo>
                <a:lnTo>
                  <a:pt x="0" y="3939864"/>
                </a:lnTo>
                <a:lnTo>
                  <a:pt x="4518707" y="3939864"/>
                </a:lnTo>
                <a:lnTo>
                  <a:pt x="451870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-3486583" y="3085173"/>
            <a:ext cx="4518707" cy="3939865"/>
          </a:xfrm>
          <a:custGeom>
            <a:avLst/>
            <a:gdLst/>
            <a:ahLst/>
            <a:cxnLst/>
            <a:rect r="r" b="b" t="t" l="l"/>
            <a:pathLst>
              <a:path h="3939865" w="4518707">
                <a:moveTo>
                  <a:pt x="0" y="0"/>
                </a:moveTo>
                <a:lnTo>
                  <a:pt x="4518707" y="0"/>
                </a:lnTo>
                <a:lnTo>
                  <a:pt x="4518707" y="3939864"/>
                </a:lnTo>
                <a:lnTo>
                  <a:pt x="0" y="39398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488343" y="-989670"/>
            <a:ext cx="1080715" cy="2956684"/>
            <a:chOff x="0" y="0"/>
            <a:chExt cx="284633" cy="778715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84633" cy="778715"/>
            </a:xfrm>
            <a:custGeom>
              <a:avLst/>
              <a:gdLst/>
              <a:ahLst/>
              <a:cxnLst/>
              <a:rect r="r" b="b" t="t" l="l"/>
              <a:pathLst>
                <a:path h="778715" w="284633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3" id="13"/>
          <p:cNvSpPr/>
          <p:nvPr/>
        </p:nvSpPr>
        <p:spPr>
          <a:xfrm flipH="false" flipV="false" rot="0">
            <a:off x="1032124" y="397520"/>
            <a:ext cx="7255085" cy="9315171"/>
          </a:xfrm>
          <a:custGeom>
            <a:avLst/>
            <a:gdLst/>
            <a:ahLst/>
            <a:cxnLst/>
            <a:rect r="r" b="b" t="t" l="l"/>
            <a:pathLst>
              <a:path h="9315171" w="7255085">
                <a:moveTo>
                  <a:pt x="0" y="0"/>
                </a:moveTo>
                <a:lnTo>
                  <a:pt x="7255085" y="0"/>
                </a:lnTo>
                <a:lnTo>
                  <a:pt x="7255085" y="9315170"/>
                </a:lnTo>
                <a:lnTo>
                  <a:pt x="0" y="931517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-1268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2950481" y="4013348"/>
            <a:ext cx="12387037" cy="20317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641"/>
              </a:lnSpc>
            </a:pPr>
            <a:r>
              <a:rPr lang="en-US" b="true" sz="11886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DAG9eBoM3t4</dc:identifier>
  <dcterms:modified xsi:type="dcterms:W3CDTF">2011-08-01T06:04:30Z</dcterms:modified>
  <cp:revision>1</cp:revision>
  <dc:title>Black Yellow Modern Minimalist Elegant Presentation</dc:title>
</cp:coreProperties>
</file>